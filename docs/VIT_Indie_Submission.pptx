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3" d="100"/>
          <a:sy n="93" d="100"/>
        </p:scale>
        <p:origin x="54" y="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LLM plans, the catalog decides the deeplink, the validator enforces the contract.</a:t>
            </a:r>
          </a:p>
          <a:p>
            <a:r>
              <a:t>1. The relevance gate refuses off-topic questions: LLM when available, then embeddings, then word lists.</a:t>
            </a:r>
          </a:p>
          <a:p>
            <a:r>
              <a:t>2. The guarded semantic cache answers paraphrases in milliseconds but refuses near-miss hits (front vs rear camera, Wi-Fi vs mobile data, on vs off).</a:t>
            </a:r>
          </a:p>
          <a:p>
            <a:r>
              <a:t>3. The settings planner answers requests like 'my phone time is in 24 hrs' with a one-screen Configuration plan built only from the catalog.</a:t>
            </a:r>
          </a:p>
          <a:p>
            <a:r>
              <a:t>4. A two-stage LLM engine does the rest: enrichment, then plan structuring grounded in Samsung's reference article; without an LLM the steps are parsed from the article.</a:t>
            </a:r>
          </a:p>
          <a:p>
            <a:r>
              <a:t>5. M2 matches every action to the 578-entry catalog on its descriptive fields and copies the URI verbatim.</a:t>
            </a:r>
          </a:p>
          <a:p>
            <a:r>
              <a:t>6. The contract validator repairs or quarantines anything off-spec, fixes on/off polarity, orders toggles to critical, and blocks any URL.</a:t>
            </a:r>
          </a:p>
          <a:p>
            <a:r>
              <a:t>7. The LLM guard keeps every request under 8 s with a slow, busy or missing provider.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30175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Theme ID - Theme 02: Smart Guided Troubleshooting Engine</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Team Name - Indie</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College Name – Vellore Institute of Technology</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Member 1 - Arav, arav3singh@gmail.com (LLM enrichment and plan structuring)</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Member 2 - Geetika Rupani, geetika.rupani2024@vitstudent.ac.in (catalog and deeplink matching)</a:t>
            </a:r>
          </a:p>
          <a:p>
            <a:pPr marL="177800" indent="-177800">
              <a:spcAft>
                <a:spcPts val="500"/>
              </a:spcAft>
              <a:buSzPct val="100000"/>
              <a:buFontTx/>
              <a:buChar char="•"/>
            </a:pPr>
            <a:r>
              <a:rPr lang="en-US" sz="1400" dirty="0">
                <a:solidFill>
                  <a:srgbClr val="63637E"/>
                </a:solidFill>
                <a:latin typeface="Calibri" pitchFamily="34" charset="0"/>
                <a:ea typeface="Calibri" pitchFamily="34" charset="-122"/>
                <a:cs typeface="Calibri" pitchFamily="34" charset="-120"/>
              </a:rPr>
              <a:t>Member 3 - Harshit, harshit.hc0723@gmail.com (backend, cache, validation, Docker)</a:t>
            </a:r>
          </a:p>
          <a:p>
            <a:pPr marL="177800" indent="-177800">
              <a:spcAft>
                <a:spcPts val="500"/>
              </a:spcAft>
              <a:buSzPct val="100000"/>
              <a:buFontTx/>
              <a:buChar char="•"/>
            </a:pPr>
            <a:r>
              <a:rPr lang="en-US" sz="1400" dirty="0">
                <a:solidFill>
                  <a:srgbClr val="63637E"/>
                </a:solidFill>
                <a:latin typeface="Calibri" pitchFamily="34" charset="0"/>
                <a:ea typeface="Calibri" pitchFamily="34" charset="-122"/>
                <a:cs typeface="Calibri" pitchFamily="34" charset="-120"/>
              </a:rPr>
              <a:t>Member 4 - Asmi, asmichaudhary06@gmail.com(frontend, evaluation, demo)</a:t>
            </a:r>
          </a:p>
          <a:p>
            <a:pPr marL="177800" indent="-177800">
              <a:spcAft>
                <a:spcPts val="500"/>
              </a:spcAft>
              <a:buSzPct val="100000"/>
              <a:buFontTx/>
              <a:buChar char="•"/>
            </a:pPr>
            <a:r>
              <a:rPr lang="en-US" sz="1400" dirty="0">
                <a:solidFill>
                  <a:srgbClr val="63637E"/>
                </a:solidFill>
                <a:latin typeface="Calibri" pitchFamily="34" charset="0"/>
                <a:ea typeface="Calibri" pitchFamily="34" charset="-122"/>
                <a:cs typeface="Calibri" pitchFamily="34" charset="-120"/>
              </a:rPr>
              <a:t>Submission GitHub link - github.com/HC-2307/Smart-Guided-Troubleshooting-Engine</a:t>
            </a: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TextBox 2"/>
          <p:cNvSpPr txBox="1"/>
          <p:nvPr/>
        </p:nvSpPr>
        <p:spPr>
          <a:xfrm>
            <a:off x="548640" y="1827848"/>
            <a:ext cx="6400800" cy="457200"/>
          </a:xfrm>
          <a:prstGeom prst="rect">
            <a:avLst/>
          </a:prstGeom>
          <a:noFill/>
        </p:spPr>
        <p:txBody>
          <a:bodyPr wrap="square" lIns="0" tIns="0" rIns="0" bIns="0" anchor="t">
            <a:spAutoFit/>
          </a:bodyPr>
          <a:lstStyle/>
          <a:p>
            <a:pPr marL="0" indent="0" algn="l">
              <a:spcAft>
                <a:spcPts val="600"/>
              </a:spcAft>
              <a:buNone/>
            </a:pPr>
            <a:r>
              <a:rPr sz="2000" b="1" i="0">
                <a:solidFill>
                  <a:srgbClr val="14142B"/>
                </a:solidFill>
                <a:latin typeface="Arial"/>
              </a:rPr>
              <a:t>Problem statement, in our words</a:t>
            </a:r>
          </a:p>
        </p:txBody>
      </p:sp>
      <p:sp>
        <p:nvSpPr>
          <p:cNvPr id="4" name="TextBox 3"/>
          <p:cNvSpPr txBox="1"/>
          <p:nvPr/>
        </p:nvSpPr>
        <p:spPr>
          <a:xfrm>
            <a:off x="548640" y="2376488"/>
            <a:ext cx="6400800" cy="2377440"/>
          </a:xfrm>
          <a:prstGeom prst="rect">
            <a:avLst/>
          </a:prstGeom>
          <a:noFill/>
        </p:spPr>
        <p:txBody>
          <a:bodyPr wrap="square" lIns="0" tIns="0" rIns="0" bIns="0" anchor="t">
            <a:spAutoFit/>
          </a:bodyPr>
          <a:lstStyle/>
          <a:p>
            <a:pPr marL="0" indent="0" algn="l">
              <a:spcAft>
                <a:spcPts val="1200"/>
              </a:spcAft>
              <a:buNone/>
            </a:pPr>
            <a:r>
              <a:rPr sz="1600" b="0" i="0">
                <a:solidFill>
                  <a:srgbClr val="63637E"/>
                </a:solidFill>
                <a:latin typeface="Calibri"/>
              </a:rPr>
              <a:t>Customers describe device problems vaguely: “my phone gets hot and the battery dies fast”.</a:t>
            </a:r>
          </a:p>
          <a:p>
            <a:pPr marL="0" indent="0" algn="l">
              <a:spcAft>
                <a:spcPts val="1200"/>
              </a:spcAft>
              <a:buNone/>
            </a:pPr>
            <a:r>
              <a:rPr sz="1600" b="0" i="0">
                <a:solidFill>
                  <a:srgbClr val="63637E"/>
                </a:solidFill>
                <a:latin typeface="Calibri"/>
              </a:rPr>
              <a:t>Today an agent turns each complaint into steps by hand, about 15 minutes per scenario across millions of calls, and the customer still has to hunt through Settings to act on the advice.</a:t>
            </a:r>
          </a:p>
          <a:p>
            <a:pPr marL="0" indent="0" algn="l">
              <a:spcAft>
                <a:spcPts val="1200"/>
              </a:spcAft>
              <a:buNone/>
            </a:pPr>
            <a:r>
              <a:rPr sz="1600" b="1" i="0">
                <a:solidFill>
                  <a:srgbClr val="14142B"/>
                </a:solidFill>
                <a:latin typeface="Calibri"/>
              </a:rPr>
              <a:t>Our goal: </a:t>
            </a:r>
            <a:r>
              <a:rPr sz="1600" b="0" i="0">
                <a:solidFill>
                  <a:srgbClr val="63637E"/>
                </a:solidFill>
                <a:latin typeface="Calibri"/>
              </a:rPr>
              <a:t>one API call turns the complaint into an ordered, safe plan, with the exact Settings screen one tap away for every step, and paraphrased questions answered from a cache in milliseconds.</a:t>
            </a:r>
          </a:p>
        </p:txBody>
      </p:sp>
      <p:sp>
        <p:nvSpPr>
          <p:cNvPr id="5" name="Rounded Rectangle 4"/>
          <p:cNvSpPr/>
          <p:nvPr/>
        </p:nvSpPr>
        <p:spPr>
          <a:xfrm>
            <a:off x="7406640" y="1827848"/>
            <a:ext cx="4206240" cy="12344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89520" y="1937576"/>
            <a:ext cx="3840480" cy="640080"/>
          </a:xfrm>
          <a:prstGeom prst="rect">
            <a:avLst/>
          </a:prstGeom>
          <a:noFill/>
        </p:spPr>
        <p:txBody>
          <a:bodyPr wrap="square" lIns="0" tIns="0" rIns="0" bIns="0" anchor="t">
            <a:spAutoFit/>
          </a:bodyPr>
          <a:lstStyle/>
          <a:p>
            <a:pPr marL="0" indent="0" algn="l">
              <a:spcAft>
                <a:spcPts val="600"/>
              </a:spcAft>
              <a:buNone/>
            </a:pPr>
            <a:r>
              <a:rPr sz="3000" b="1" i="0">
                <a:solidFill>
                  <a:srgbClr val="6D28D9"/>
                </a:solidFill>
                <a:latin typeface="Arial"/>
              </a:rPr>
              <a:t>~15 min</a:t>
            </a:r>
          </a:p>
        </p:txBody>
      </p:sp>
      <p:sp>
        <p:nvSpPr>
          <p:cNvPr id="7" name="TextBox 6"/>
          <p:cNvSpPr txBox="1"/>
          <p:nvPr/>
        </p:nvSpPr>
        <p:spPr>
          <a:xfrm>
            <a:off x="7589520" y="2559368"/>
            <a:ext cx="3840480" cy="457200"/>
          </a:xfrm>
          <a:prstGeom prst="rect">
            <a:avLst/>
          </a:prstGeom>
          <a:noFill/>
        </p:spPr>
        <p:txBody>
          <a:bodyPr wrap="square" lIns="0" tIns="0" rIns="0" bIns="0" anchor="t">
            <a:spAutoFit/>
          </a:bodyPr>
          <a:lstStyle/>
          <a:p>
            <a:pPr marL="0" indent="0" algn="l">
              <a:spcAft>
                <a:spcPts val="600"/>
              </a:spcAft>
              <a:buNone/>
            </a:pPr>
            <a:r>
              <a:rPr sz="1200" b="0" i="0">
                <a:solidFill>
                  <a:srgbClr val="63637E"/>
                </a:solidFill>
                <a:latin typeface="Calibri"/>
              </a:rPr>
              <a:t>spent by an agent today to translate one complaint into steps</a:t>
            </a:r>
          </a:p>
        </p:txBody>
      </p:sp>
      <p:sp>
        <p:nvSpPr>
          <p:cNvPr id="8" name="Rounded Rectangle 7"/>
          <p:cNvSpPr/>
          <p:nvPr/>
        </p:nvSpPr>
        <p:spPr>
          <a:xfrm>
            <a:off x="7406640" y="3245168"/>
            <a:ext cx="4206240" cy="12344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0" y="3354896"/>
            <a:ext cx="3840480" cy="640080"/>
          </a:xfrm>
          <a:prstGeom prst="rect">
            <a:avLst/>
          </a:prstGeom>
          <a:noFill/>
        </p:spPr>
        <p:txBody>
          <a:bodyPr wrap="square" lIns="0" tIns="0" rIns="0" bIns="0" anchor="t">
            <a:spAutoFit/>
          </a:bodyPr>
          <a:lstStyle/>
          <a:p>
            <a:pPr marL="0" indent="0" algn="l">
              <a:spcAft>
                <a:spcPts val="600"/>
              </a:spcAft>
              <a:buNone/>
            </a:pPr>
            <a:r>
              <a:rPr sz="3000" b="1" i="0">
                <a:solidFill>
                  <a:srgbClr val="6D28D9"/>
                </a:solidFill>
                <a:latin typeface="Arial"/>
              </a:rPr>
              <a:t>1 API call</a:t>
            </a:r>
          </a:p>
        </p:txBody>
      </p:sp>
      <p:sp>
        <p:nvSpPr>
          <p:cNvPr id="10" name="TextBox 9"/>
          <p:cNvSpPr txBox="1"/>
          <p:nvPr/>
        </p:nvSpPr>
        <p:spPr>
          <a:xfrm>
            <a:off x="7589520" y="3976688"/>
            <a:ext cx="3840480" cy="457200"/>
          </a:xfrm>
          <a:prstGeom prst="rect">
            <a:avLst/>
          </a:prstGeom>
          <a:noFill/>
        </p:spPr>
        <p:txBody>
          <a:bodyPr wrap="square" lIns="0" tIns="0" rIns="0" bIns="0" anchor="t">
            <a:spAutoFit/>
          </a:bodyPr>
          <a:lstStyle/>
          <a:p>
            <a:pPr marL="0" indent="0" algn="l">
              <a:spcAft>
                <a:spcPts val="600"/>
              </a:spcAft>
              <a:buNone/>
            </a:pPr>
            <a:r>
              <a:rPr sz="1200" b="0" i="0">
                <a:solidFill>
                  <a:srgbClr val="63637E"/>
                </a:solidFill>
                <a:latin typeface="Calibri"/>
              </a:rPr>
              <a:t>complaint in, ordered steps and catalog deeplinks out, as pure JSON</a:t>
            </a:r>
          </a:p>
        </p:txBody>
      </p:sp>
      <p:sp>
        <p:nvSpPr>
          <p:cNvPr id="11" name="Rounded Rectangle 10"/>
          <p:cNvSpPr/>
          <p:nvPr/>
        </p:nvSpPr>
        <p:spPr>
          <a:xfrm>
            <a:off x="7406640" y="4662488"/>
            <a:ext cx="4206240" cy="12344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0" y="4772216"/>
            <a:ext cx="3840480" cy="640080"/>
          </a:xfrm>
          <a:prstGeom prst="rect">
            <a:avLst/>
          </a:prstGeom>
          <a:noFill/>
        </p:spPr>
        <p:txBody>
          <a:bodyPr wrap="square" lIns="0" tIns="0" rIns="0" bIns="0" anchor="t">
            <a:spAutoFit/>
          </a:bodyPr>
          <a:lstStyle/>
          <a:p>
            <a:pPr marL="0" indent="0" algn="l">
              <a:spcAft>
                <a:spcPts val="600"/>
              </a:spcAft>
              <a:buNone/>
            </a:pPr>
            <a:r>
              <a:rPr sz="3000" b="1" i="0">
                <a:solidFill>
                  <a:srgbClr val="6D28D9"/>
                </a:solidFill>
                <a:latin typeface="Arial"/>
              </a:rPr>
              <a:t>≤ 300 ms</a:t>
            </a:r>
          </a:p>
        </p:txBody>
      </p:sp>
      <p:sp>
        <p:nvSpPr>
          <p:cNvPr id="13" name="TextBox 12"/>
          <p:cNvSpPr txBox="1"/>
          <p:nvPr/>
        </p:nvSpPr>
        <p:spPr>
          <a:xfrm>
            <a:off x="7589520" y="5394008"/>
            <a:ext cx="3840480" cy="457200"/>
          </a:xfrm>
          <a:prstGeom prst="rect">
            <a:avLst/>
          </a:prstGeom>
          <a:noFill/>
        </p:spPr>
        <p:txBody>
          <a:bodyPr wrap="square" lIns="0" tIns="0" rIns="0" bIns="0" anchor="t">
            <a:spAutoFit/>
          </a:bodyPr>
          <a:lstStyle/>
          <a:p>
            <a:pPr marL="0" indent="0" algn="l">
              <a:spcAft>
                <a:spcPts val="600"/>
              </a:spcAft>
              <a:buNone/>
            </a:pPr>
            <a:r>
              <a:rPr sz="1200" b="0" i="0">
                <a:solidFill>
                  <a:srgbClr val="63637E"/>
                </a:solidFill>
                <a:latin typeface="Calibri"/>
              </a:rPr>
              <a:t>target for repeated and paraphrased questions served from cache</a:t>
            </a:r>
          </a:p>
        </p:txBody>
      </p:sp>
      <p:sp>
        <p:nvSpPr>
          <p:cNvPr id="14" name="TextBox 13"/>
          <p:cNvSpPr txBox="1"/>
          <p:nvPr/>
        </p:nvSpPr>
        <p:spPr>
          <a:xfrm>
            <a:off x="548640" y="4891088"/>
            <a:ext cx="6400800" cy="320040"/>
          </a:xfrm>
          <a:prstGeom prst="rect">
            <a:avLst/>
          </a:prstGeom>
          <a:noFill/>
        </p:spPr>
        <p:txBody>
          <a:bodyPr wrap="square" lIns="0" tIns="0" rIns="0" bIns="0" anchor="t">
            <a:spAutoFit/>
          </a:bodyPr>
          <a:lstStyle/>
          <a:p>
            <a:pPr marL="0" indent="0" algn="l">
              <a:spcAft>
                <a:spcPts val="600"/>
              </a:spcAft>
              <a:buNone/>
            </a:pPr>
            <a:r>
              <a:rPr sz="1500" b="1" i="0">
                <a:solidFill>
                  <a:srgbClr val="14142B"/>
                </a:solidFill>
                <a:latin typeface="Arial"/>
              </a:rPr>
              <a:t>Non-negotiables in the Theme 2 spec</a:t>
            </a:r>
          </a:p>
        </p:txBody>
      </p:sp>
      <p:sp>
        <p:nvSpPr>
          <p:cNvPr id="15" name="Rounded Rectangle 14"/>
          <p:cNvSpPr/>
          <p:nvPr/>
        </p:nvSpPr>
        <p:spPr>
          <a:xfrm>
            <a:off x="548640" y="5302568"/>
            <a:ext cx="2011680" cy="384048"/>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5302568"/>
            <a:ext cx="2011680" cy="384048"/>
          </a:xfrm>
          <a:prstGeom prst="rect">
            <a:avLst/>
          </a:prstGeom>
          <a:noFill/>
        </p:spPr>
        <p:txBody>
          <a:bodyPr wrap="square" lIns="0" tIns="0" rIns="0" bIns="0" anchor="ctr">
            <a:spAutoFit/>
          </a:bodyPr>
          <a:lstStyle/>
          <a:p>
            <a:pPr marL="0" indent="0" algn="ctr">
              <a:spcAft>
                <a:spcPts val="600"/>
              </a:spcAft>
              <a:buNone/>
            </a:pPr>
            <a:r>
              <a:rPr sz="1200" b="0" i="0">
                <a:solidFill>
                  <a:srgbClr val="6D28D9"/>
                </a:solidFill>
                <a:latin typeface="Calibri"/>
              </a:rPr>
              <a:t>Zero URLs in output</a:t>
            </a:r>
          </a:p>
        </p:txBody>
      </p:sp>
      <p:sp>
        <p:nvSpPr>
          <p:cNvPr id="17" name="Rounded Rectangle 16"/>
          <p:cNvSpPr/>
          <p:nvPr/>
        </p:nvSpPr>
        <p:spPr>
          <a:xfrm>
            <a:off x="2697480" y="5302568"/>
            <a:ext cx="2011680" cy="384048"/>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97480" y="5302568"/>
            <a:ext cx="2011680" cy="384048"/>
          </a:xfrm>
          <a:prstGeom prst="rect">
            <a:avLst/>
          </a:prstGeom>
          <a:noFill/>
        </p:spPr>
        <p:txBody>
          <a:bodyPr wrap="square" lIns="0" tIns="0" rIns="0" bIns="0" anchor="ctr">
            <a:spAutoFit/>
          </a:bodyPr>
          <a:lstStyle/>
          <a:p>
            <a:pPr marL="0" indent="0" algn="ctr">
              <a:spcAft>
                <a:spcPts val="600"/>
              </a:spcAft>
              <a:buNone/>
            </a:pPr>
            <a:r>
              <a:rPr sz="1200" b="0" i="0">
                <a:solidFill>
                  <a:srgbClr val="6D28D9"/>
                </a:solidFill>
                <a:latin typeface="Calibri"/>
              </a:rPr>
              <a:t>Catalog-only deeplinks</a:t>
            </a:r>
          </a:p>
        </p:txBody>
      </p:sp>
      <p:sp>
        <p:nvSpPr>
          <p:cNvPr id="19" name="Rounded Rectangle 18"/>
          <p:cNvSpPr/>
          <p:nvPr/>
        </p:nvSpPr>
        <p:spPr>
          <a:xfrm>
            <a:off x="4846320" y="5302568"/>
            <a:ext cx="2011680" cy="384048"/>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46320" y="5302568"/>
            <a:ext cx="2011680" cy="384048"/>
          </a:xfrm>
          <a:prstGeom prst="rect">
            <a:avLst/>
          </a:prstGeom>
          <a:noFill/>
        </p:spPr>
        <p:txBody>
          <a:bodyPr wrap="square" lIns="0" tIns="0" rIns="0" bIns="0" anchor="ctr">
            <a:spAutoFit/>
          </a:bodyPr>
          <a:lstStyle/>
          <a:p>
            <a:pPr marL="0" indent="0" algn="ctr">
              <a:spcAft>
                <a:spcPts val="600"/>
              </a:spcAft>
              <a:buNone/>
            </a:pPr>
            <a:r>
              <a:rPr sz="1200" b="0" i="0">
                <a:solidFill>
                  <a:srgbClr val="6D28D9"/>
                </a:solidFill>
                <a:latin typeface="Calibri"/>
              </a:rPr>
              <a:t>No invented steps</a:t>
            </a:r>
          </a:p>
        </p:txBody>
      </p:sp>
      <p:sp>
        <p:nvSpPr>
          <p:cNvPr id="21" name="Rounded Rectangle 20"/>
          <p:cNvSpPr/>
          <p:nvPr/>
        </p:nvSpPr>
        <p:spPr>
          <a:xfrm>
            <a:off x="548640" y="5805487"/>
            <a:ext cx="2011680" cy="384048"/>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5805487"/>
            <a:ext cx="2011680" cy="384048"/>
          </a:xfrm>
          <a:prstGeom prst="rect">
            <a:avLst/>
          </a:prstGeom>
          <a:noFill/>
        </p:spPr>
        <p:txBody>
          <a:bodyPr wrap="square" lIns="0" tIns="0" rIns="0" bIns="0" anchor="ctr">
            <a:spAutoFit/>
          </a:bodyPr>
          <a:lstStyle/>
          <a:p>
            <a:pPr marL="0" indent="0" algn="ctr">
              <a:spcAft>
                <a:spcPts val="600"/>
              </a:spcAft>
              <a:buNone/>
            </a:pPr>
            <a:r>
              <a:rPr sz="1200" b="0" i="0">
                <a:solidFill>
                  <a:srgbClr val="6D28D9"/>
                </a:solidFill>
                <a:latin typeface="Calibri"/>
              </a:rPr>
              <a:t>Pure JSON</a:t>
            </a:r>
          </a:p>
        </p:txBody>
      </p:sp>
      <p:sp>
        <p:nvSpPr>
          <p:cNvPr id="23" name="Rounded Rectangle 22"/>
          <p:cNvSpPr/>
          <p:nvPr/>
        </p:nvSpPr>
        <p:spPr>
          <a:xfrm>
            <a:off x="2697480" y="5805487"/>
            <a:ext cx="2011680" cy="384048"/>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97480" y="5805487"/>
            <a:ext cx="2011680" cy="384048"/>
          </a:xfrm>
          <a:prstGeom prst="rect">
            <a:avLst/>
          </a:prstGeom>
          <a:noFill/>
        </p:spPr>
        <p:txBody>
          <a:bodyPr wrap="square" lIns="0" tIns="0" rIns="0" bIns="0" anchor="ctr">
            <a:spAutoFit/>
          </a:bodyPr>
          <a:lstStyle/>
          <a:p>
            <a:pPr marL="0" indent="0" algn="ctr">
              <a:spcAft>
                <a:spcPts val="600"/>
              </a:spcAft>
              <a:buNone/>
            </a:pPr>
            <a:r>
              <a:rPr sz="1200" b="0" i="0">
                <a:solidFill>
                  <a:srgbClr val="6D28D9"/>
                </a:solidFill>
                <a:latin typeface="Calibri"/>
              </a:rPr>
              <a:t>≥ 80% paraphrase cache hits</a:t>
            </a:r>
          </a:p>
        </p:txBody>
      </p:sp>
      <p:sp>
        <p:nvSpPr>
          <p:cNvPr id="25" name="Rounded Rectangle 24"/>
          <p:cNvSpPr/>
          <p:nvPr/>
        </p:nvSpPr>
        <p:spPr>
          <a:xfrm>
            <a:off x="4846320" y="5805487"/>
            <a:ext cx="2011680" cy="384048"/>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46320" y="5805487"/>
            <a:ext cx="2011680" cy="384048"/>
          </a:xfrm>
          <a:prstGeom prst="rect">
            <a:avLst/>
          </a:prstGeom>
          <a:noFill/>
        </p:spPr>
        <p:txBody>
          <a:bodyPr wrap="square" lIns="0" tIns="0" rIns="0" bIns="0" anchor="ctr">
            <a:spAutoFit/>
          </a:bodyPr>
          <a:lstStyle/>
          <a:p>
            <a:pPr marL="0" indent="0" algn="ctr">
              <a:spcAft>
                <a:spcPts val="600"/>
              </a:spcAft>
              <a:buNone/>
            </a:pPr>
            <a:r>
              <a:rPr sz="1200" b="0" i="0">
                <a:solidFill>
                  <a:srgbClr val="6D28D9"/>
                </a:solidFill>
                <a:latin typeface="Calibri"/>
              </a:rPr>
              <a:t>Cold P95 ≤ 8 s</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graphicFrame>
        <p:nvGraphicFramePr>
          <p:cNvPr id="3" name="Table 2"/>
          <p:cNvGraphicFramePr>
            <a:graphicFrameLocks noGrp="1"/>
          </p:cNvGraphicFramePr>
          <p:nvPr/>
        </p:nvGraphicFramePr>
        <p:xfrm>
          <a:off x="548640" y="1827848"/>
          <a:ext cx="11091671" cy="3401568"/>
        </p:xfrm>
        <a:graphic>
          <a:graphicData uri="http://schemas.openxmlformats.org/drawingml/2006/table">
            <a:tbl>
              <a:tblPr firstRow="1">
                <a:tableStyleId>{5C22544A-7EE6-4342-B048-85BDC9FD1C3A}</a:tableStyleId>
              </a:tblPr>
              <a:tblGrid>
                <a:gridCol w="3291840">
                  <a:extLst>
                    <a:ext uri="{9D8B030D-6E8A-4147-A177-3AD203B41FA5}">
                      <a16:colId xmlns:a16="http://schemas.microsoft.com/office/drawing/2014/main" val="20000"/>
                    </a:ext>
                  </a:extLst>
                </a:gridCol>
                <a:gridCol w="7799831">
                  <a:extLst>
                    <a:ext uri="{9D8B030D-6E8A-4147-A177-3AD203B41FA5}">
                      <a16:colId xmlns:a16="http://schemas.microsoft.com/office/drawing/2014/main" val="20001"/>
                    </a:ext>
                  </a:extLst>
                </a:gridCol>
              </a:tblGrid>
              <a:tr h="566928">
                <a:tc>
                  <a:txBody>
                    <a:bodyPr/>
                    <a:lstStyle/>
                    <a:p>
                      <a:r>
                        <a:rPr sz="1400" b="1">
                          <a:solidFill>
                            <a:srgbClr val="FFFFFF"/>
                          </a:solidFill>
                          <a:latin typeface="Calibri"/>
                        </a:rPr>
                        <a:t>Existing approach</a:t>
                      </a:r>
                    </a:p>
                  </a:txBody>
                  <a:tcPr marL="73152" marR="73152" marT="36576" marB="36576" anchor="ctr">
                    <a:solidFill>
                      <a:srgbClr val="6D28D9"/>
                    </a:solidFill>
                  </a:tcPr>
                </a:tc>
                <a:tc>
                  <a:txBody>
                    <a:bodyPr/>
                    <a:lstStyle/>
                    <a:p>
                      <a:r>
                        <a:rPr sz="1400" b="1">
                          <a:solidFill>
                            <a:srgbClr val="FFFFFF"/>
                          </a:solidFill>
                          <a:latin typeface="Calibri"/>
                        </a:rPr>
                        <a:t>Why it falls short here</a:t>
                      </a:r>
                    </a:p>
                  </a:txBody>
                  <a:tcPr marL="73152" marR="73152" marT="36576" marB="36576" anchor="ctr">
                    <a:solidFill>
                      <a:srgbClr val="6D28D9"/>
                    </a:solidFill>
                  </a:tcPr>
                </a:tc>
                <a:extLst>
                  <a:ext uri="{0D108BD9-81ED-4DB2-BD59-A6C34878D82A}">
                    <a16:rowId xmlns:a16="http://schemas.microsoft.com/office/drawing/2014/main" val="10000"/>
                  </a:ext>
                </a:extLst>
              </a:tr>
              <a:tr h="566928">
                <a:tc>
                  <a:txBody>
                    <a:bodyPr/>
                    <a:lstStyle/>
                    <a:p>
                      <a:r>
                        <a:rPr sz="1400" b="1">
                          <a:solidFill>
                            <a:srgbClr val="14142B"/>
                          </a:solidFill>
                          <a:latin typeface="Calibri"/>
                        </a:rPr>
                        <a:t>Support chatbots / plain LLM answers</a:t>
                      </a:r>
                    </a:p>
                  </a:txBody>
                  <a:tcPr marL="73152" marR="73152" marT="36576" marB="36576" anchor="ctr">
                    <a:solidFill>
                      <a:srgbClr val="FFFFFF"/>
                    </a:solidFill>
                  </a:tcPr>
                </a:tc>
                <a:tc>
                  <a:txBody>
                    <a:bodyPr/>
                    <a:lstStyle/>
                    <a:p>
                      <a:r>
                        <a:rPr sz="1400" b="0">
                          <a:solidFill>
                            <a:srgbClr val="14142B"/>
                          </a:solidFill>
                          <a:latin typeface="Calibri"/>
                        </a:rPr>
                        <a:t>Hallucinate settings paths and links; no deeplinks; free text, not a contract</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400" b="1">
                          <a:solidFill>
                            <a:srgbClr val="14142B"/>
                          </a:solidFill>
                          <a:latin typeface="Calibri"/>
                        </a:rPr>
                        <a:t>FAQ / keyword search in Settings</a:t>
                      </a:r>
                    </a:p>
                  </a:txBody>
                  <a:tcPr marL="73152" marR="73152" marT="36576" marB="36576" anchor="ctr">
                    <a:solidFill>
                      <a:srgbClr val="F4F1FD"/>
                    </a:solidFill>
                  </a:tcPr>
                </a:tc>
                <a:tc>
                  <a:txBody>
                    <a:bodyPr/>
                    <a:lstStyle/>
                    <a:p>
                      <a:r>
                        <a:rPr sz="1400" b="0">
                          <a:solidFill>
                            <a:srgbClr val="14142B"/>
                          </a:solidFill>
                          <a:latin typeface="Calibri"/>
                        </a:rPr>
                        <a:t>The user must already know the right words; no ordering, no troubleshooting flow</a:t>
                      </a:r>
                    </a:p>
                  </a:txBody>
                  <a:tcPr marL="73152" marR="73152" marT="36576" marB="36576" anchor="ctr">
                    <a:solidFill>
                      <a:srgbClr val="F4F1FD"/>
                    </a:solidFill>
                  </a:tcPr>
                </a:tc>
                <a:extLst>
                  <a:ext uri="{0D108BD9-81ED-4DB2-BD59-A6C34878D82A}">
                    <a16:rowId xmlns:a16="http://schemas.microsoft.com/office/drawing/2014/main" val="10002"/>
                  </a:ext>
                </a:extLst>
              </a:tr>
              <a:tr h="566928">
                <a:tc>
                  <a:txBody>
                    <a:bodyPr/>
                    <a:lstStyle/>
                    <a:p>
                      <a:r>
                        <a:rPr sz="1400" b="1">
                          <a:solidFill>
                            <a:srgbClr val="14142B"/>
                          </a:solidFill>
                          <a:latin typeface="Calibri"/>
                        </a:rPr>
                        <a:t>Semantic caches (GPTCache, MeanCache)</a:t>
                      </a:r>
                    </a:p>
                  </a:txBody>
                  <a:tcPr marL="73152" marR="73152" marT="36576" marB="36576" anchor="ctr">
                    <a:solidFill>
                      <a:srgbClr val="FFFFFF"/>
                    </a:solidFill>
                  </a:tcPr>
                </a:tc>
                <a:tc>
                  <a:txBody>
                    <a:bodyPr/>
                    <a:lstStyle/>
                    <a:p>
                      <a:r>
                        <a:rPr sz="1400" b="0">
                          <a:solidFill>
                            <a:srgbClr val="14142B"/>
                          </a:solidFill>
                          <a:latin typeface="Calibri"/>
                        </a:rPr>
                        <a:t>One similarity threshold: “front camera blurry” and “rear camera blurry” look alike, so a wrong plan is served confidently</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400" b="1">
                          <a:solidFill>
                            <a:srgbClr val="14142B"/>
                          </a:solidFill>
                          <a:latin typeface="Calibri"/>
                        </a:rPr>
                        <a:t>Verified caches (vCache, Krites)</a:t>
                      </a:r>
                    </a:p>
                  </a:txBody>
                  <a:tcPr marL="73152" marR="73152" marT="36576" marB="36576" anchor="ctr">
                    <a:solidFill>
                      <a:srgbClr val="F4F1FD"/>
                    </a:solidFill>
                  </a:tcPr>
                </a:tc>
                <a:tc>
                  <a:txBody>
                    <a:bodyPr/>
                    <a:lstStyle/>
                    <a:p>
                      <a:r>
                        <a:rPr sz="1400" b="0">
                          <a:solidFill>
                            <a:srgbClr val="14142B"/>
                          </a:solidFill>
                          <a:latin typeface="Calibri"/>
                        </a:rPr>
                        <a:t>Need online feedback or an extra LLM judge call per hit: more cost, not deterministic</a:t>
                      </a:r>
                    </a:p>
                  </a:txBody>
                  <a:tcPr marL="73152" marR="73152" marT="36576" marB="36576" anchor="ctr">
                    <a:solidFill>
                      <a:srgbClr val="F4F1FD"/>
                    </a:solidFill>
                  </a:tcPr>
                </a:tc>
                <a:extLst>
                  <a:ext uri="{0D108BD9-81ED-4DB2-BD59-A6C34878D82A}">
                    <a16:rowId xmlns:a16="http://schemas.microsoft.com/office/drawing/2014/main" val="10004"/>
                  </a:ext>
                </a:extLst>
              </a:tr>
              <a:tr h="566928">
                <a:tc>
                  <a:txBody>
                    <a:bodyPr/>
                    <a:lstStyle/>
                    <a:p>
                      <a:r>
                        <a:rPr sz="1400" b="1">
                          <a:solidFill>
                            <a:srgbClr val="14142B"/>
                          </a:solidFill>
                          <a:latin typeface="Calibri"/>
                        </a:rPr>
                        <a:t>JSON-schema validation / guardrails</a:t>
                      </a:r>
                    </a:p>
                  </a:txBody>
                  <a:tcPr marL="73152" marR="73152" marT="36576" marB="36576" anchor="ctr">
                    <a:solidFill>
                      <a:srgbClr val="FFFFFF"/>
                    </a:solidFill>
                  </a:tcPr>
                </a:tc>
                <a:tc>
                  <a:txBody>
                    <a:bodyPr/>
                    <a:lstStyle/>
                    <a:p>
                      <a:r>
                        <a:rPr sz="1400" b="0">
                          <a:solidFill>
                            <a:srgbClr val="14142B"/>
                          </a:solidFill>
                          <a:latin typeface="Calibri"/>
                        </a:rPr>
                        <a:t>Check types and topics, not graded rules; miss a real catalog deeplink that does the opposite of the step (Enable → Disable)</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4" name="Rounded Rectangle 3"/>
          <p:cNvSpPr/>
          <p:nvPr/>
        </p:nvSpPr>
        <p:spPr>
          <a:xfrm>
            <a:off x="548640" y="5549455"/>
            <a:ext cx="11091672" cy="86868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5549455"/>
            <a:ext cx="10543032" cy="868680"/>
          </a:xfrm>
          <a:prstGeom prst="rect">
            <a:avLst/>
          </a:prstGeom>
          <a:noFill/>
        </p:spPr>
        <p:txBody>
          <a:bodyPr wrap="square" lIns="0" tIns="0" rIns="0" bIns="0" anchor="ctr">
            <a:spAutoFit/>
          </a:bodyPr>
          <a:lstStyle/>
          <a:p>
            <a:pPr marL="0" indent="0" algn="l">
              <a:spcAft>
                <a:spcPts val="600"/>
              </a:spcAft>
              <a:buNone/>
            </a:pPr>
            <a:r>
              <a:rPr sz="1700" b="1" i="0">
                <a:solidFill>
                  <a:srgbClr val="FFFFFF"/>
                </a:solidFill>
                <a:latin typeface="Arial"/>
              </a:rPr>
              <a:t>The gap: </a:t>
            </a:r>
            <a:r>
              <a:rPr sz="1600" b="0" i="0">
                <a:solidFill>
                  <a:srgbClr val="FFFFFF"/>
                </a:solidFill>
                <a:latin typeface="Calibri"/>
              </a:rPr>
              <a:t>nothing combines LLM understanding with catalog-guaranteed actions, rule-level output guarantees and a cache that stays safe on near-duplicate complaints.</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TextBox 2"/>
          <p:cNvSpPr txBox="1"/>
          <p:nvPr/>
        </p:nvSpPr>
        <p:spPr>
          <a:xfrm>
            <a:off x="548640" y="1729236"/>
            <a:ext cx="11091672" cy="365760"/>
          </a:xfrm>
          <a:prstGeom prst="rect">
            <a:avLst/>
          </a:prstGeom>
          <a:noFill/>
        </p:spPr>
        <p:txBody>
          <a:bodyPr wrap="square" lIns="0" tIns="0" rIns="0" bIns="0" anchor="t">
            <a:spAutoFit/>
          </a:bodyPr>
          <a:lstStyle/>
          <a:p>
            <a:pPr marL="0" indent="0" algn="ctr">
              <a:spcAft>
                <a:spcPts val="600"/>
              </a:spcAft>
              <a:buNone/>
            </a:pPr>
            <a:r>
              <a:rPr sz="1600" b="1" i="0">
                <a:solidFill>
                  <a:srgbClr val="6D28D9"/>
                </a:solidFill>
                <a:latin typeface="Calibri"/>
              </a:rPr>
              <a:t>The LLM plans · the catalog decides the deeplink · the validator enforces the contract</a:t>
            </a:r>
          </a:p>
        </p:txBody>
      </p:sp>
      <p:pic>
        <p:nvPicPr>
          <p:cNvPr id="4" name="Picture 3" descr="architecture_slide.png"/>
          <p:cNvPicPr>
            <a:picLocks noChangeAspect="1"/>
          </p:cNvPicPr>
          <p:nvPr/>
        </p:nvPicPr>
        <p:blipFill>
          <a:blip r:embed="rId4"/>
          <a:stretch>
            <a:fillRect/>
          </a:stretch>
        </p:blipFill>
        <p:spPr>
          <a:xfrm>
            <a:off x="662801" y="2232156"/>
            <a:ext cx="10866397" cy="4351524"/>
          </a:xfrm>
          <a:prstGeom prst="rect">
            <a:avLst/>
          </a:prstGeom>
        </p:spPr>
      </p:pic>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Oval 2"/>
          <p:cNvSpPr/>
          <p:nvPr/>
        </p:nvSpPr>
        <p:spPr>
          <a:xfrm>
            <a:off x="548640" y="187356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1</a:t>
            </a:r>
          </a:p>
        </p:txBody>
      </p:sp>
      <p:sp>
        <p:nvSpPr>
          <p:cNvPr id="4" name="TextBox 3"/>
          <p:cNvSpPr txBox="1"/>
          <p:nvPr/>
        </p:nvSpPr>
        <p:spPr>
          <a:xfrm>
            <a:off x="1143000" y="1827848"/>
            <a:ext cx="4754880" cy="685800"/>
          </a:xfrm>
          <a:prstGeom prst="rect">
            <a:avLst/>
          </a:prstGeom>
          <a:noFill/>
        </p:spPr>
        <p:txBody>
          <a:bodyPr wrap="square" lIns="0" tIns="0" rIns="0" bIns="0" anchor="t">
            <a:spAutoFit/>
          </a:bodyPr>
          <a:lstStyle/>
          <a:p>
            <a:pPr marL="0" indent="0" algn="l">
              <a:spcAft>
                <a:spcPts val="200"/>
              </a:spcAft>
              <a:buNone/>
            </a:pPr>
            <a:r>
              <a:rPr sz="1500" b="1" i="0">
                <a:solidFill>
                  <a:srgbClr val="14142B"/>
                </a:solidFill>
                <a:latin typeface="Calibri"/>
              </a:rPr>
              <a:t>./start.sh asks for an OpenAI or free NVIDIA key</a:t>
            </a:r>
          </a:p>
          <a:p>
            <a:pPr marL="0" indent="0" algn="l">
              <a:spcAft>
                <a:spcPts val="200"/>
              </a:spcAft>
              <a:buNone/>
            </a:pPr>
            <a:r>
              <a:rPr sz="1300" b="0" i="0">
                <a:solidFill>
                  <a:srgbClr val="63637E"/>
                </a:solidFill>
                <a:latin typeface="Calibri"/>
              </a:rPr>
              <a:t>no key at all runs the full offline pipeline</a:t>
            </a:r>
          </a:p>
        </p:txBody>
      </p:sp>
      <p:sp>
        <p:nvSpPr>
          <p:cNvPr id="5" name="Oval 4"/>
          <p:cNvSpPr/>
          <p:nvPr/>
        </p:nvSpPr>
        <p:spPr>
          <a:xfrm>
            <a:off x="548640" y="2568512"/>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2</a:t>
            </a:r>
          </a:p>
        </p:txBody>
      </p:sp>
      <p:sp>
        <p:nvSpPr>
          <p:cNvPr id="6" name="TextBox 5"/>
          <p:cNvSpPr txBox="1"/>
          <p:nvPr/>
        </p:nvSpPr>
        <p:spPr>
          <a:xfrm>
            <a:off x="1143000" y="2522792"/>
            <a:ext cx="4754880" cy="685800"/>
          </a:xfrm>
          <a:prstGeom prst="rect">
            <a:avLst/>
          </a:prstGeom>
          <a:noFill/>
        </p:spPr>
        <p:txBody>
          <a:bodyPr wrap="square" lIns="0" tIns="0" rIns="0" bIns="0" anchor="t">
            <a:spAutoFit/>
          </a:bodyPr>
          <a:lstStyle/>
          <a:p>
            <a:pPr marL="0" indent="0" algn="l">
              <a:spcAft>
                <a:spcPts val="200"/>
              </a:spcAft>
              <a:buNone/>
            </a:pPr>
            <a:r>
              <a:rPr sz="1500" b="1" i="0">
                <a:solidFill>
                  <a:srgbClr val="14142B"/>
                </a:solidFill>
                <a:latin typeface="Calibri"/>
              </a:rPr>
              <a:t>Official query: Flip 6 screen flickers</a:t>
            </a:r>
          </a:p>
          <a:p>
            <a:pPr marL="0" indent="0" algn="l">
              <a:spcAft>
                <a:spcPts val="200"/>
              </a:spcAft>
              <a:buNone/>
            </a:pPr>
            <a:r>
              <a:rPr sz="1300" b="0" i="0">
                <a:solidFill>
                  <a:srgbClr val="63637E"/>
                </a:solidFill>
                <a:latin typeface="Calibri"/>
              </a:rPr>
              <a:t>reference-grounded plan, catalog deeplink on each step</a:t>
            </a:r>
          </a:p>
        </p:txBody>
      </p:sp>
      <p:sp>
        <p:nvSpPr>
          <p:cNvPr id="7" name="Oval 6"/>
          <p:cNvSpPr/>
          <p:nvPr/>
        </p:nvSpPr>
        <p:spPr>
          <a:xfrm>
            <a:off x="548640" y="3263456"/>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3</a:t>
            </a:r>
          </a:p>
        </p:txBody>
      </p:sp>
      <p:sp>
        <p:nvSpPr>
          <p:cNvPr id="8" name="TextBox 7"/>
          <p:cNvSpPr txBox="1"/>
          <p:nvPr/>
        </p:nvSpPr>
        <p:spPr>
          <a:xfrm>
            <a:off x="1143000" y="3217736"/>
            <a:ext cx="4754880" cy="685800"/>
          </a:xfrm>
          <a:prstGeom prst="rect">
            <a:avLst/>
          </a:prstGeom>
          <a:noFill/>
        </p:spPr>
        <p:txBody>
          <a:bodyPr wrap="square" lIns="0" tIns="0" rIns="0" bIns="0" anchor="t">
            <a:spAutoFit/>
          </a:bodyPr>
          <a:lstStyle/>
          <a:p>
            <a:pPr marL="0" indent="0" algn="l">
              <a:spcAft>
                <a:spcPts val="200"/>
              </a:spcAft>
              <a:buNone/>
            </a:pPr>
            <a:r>
              <a:rPr sz="1500" b="1" i="0">
                <a:solidFill>
                  <a:srgbClr val="14142B"/>
                </a:solidFill>
                <a:latin typeface="Calibri"/>
              </a:rPr>
              <a:t>“battery drains fast”, then a paraphrase</a:t>
            </a:r>
          </a:p>
          <a:p>
            <a:pPr marL="0" indent="0" algn="l">
              <a:spcAft>
                <a:spcPts val="200"/>
              </a:spcAft>
              <a:buNone/>
            </a:pPr>
            <a:r>
              <a:rPr sz="1300" b="0" i="0">
                <a:solidFill>
                  <a:srgbClr val="63637E"/>
                </a:solidFill>
                <a:latin typeface="Calibri"/>
              </a:rPr>
              <a:t>second answer is a cache hit in tens of milliseconds</a:t>
            </a:r>
          </a:p>
        </p:txBody>
      </p:sp>
      <p:sp>
        <p:nvSpPr>
          <p:cNvPr id="9" name="Oval 8"/>
          <p:cNvSpPr/>
          <p:nvPr/>
        </p:nvSpPr>
        <p:spPr>
          <a:xfrm>
            <a:off x="548640" y="3958400"/>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4</a:t>
            </a:r>
          </a:p>
        </p:txBody>
      </p:sp>
      <p:sp>
        <p:nvSpPr>
          <p:cNvPr id="10" name="TextBox 9"/>
          <p:cNvSpPr txBox="1"/>
          <p:nvPr/>
        </p:nvSpPr>
        <p:spPr>
          <a:xfrm>
            <a:off x="1143000" y="3912680"/>
            <a:ext cx="4754880" cy="685800"/>
          </a:xfrm>
          <a:prstGeom prst="rect">
            <a:avLst/>
          </a:prstGeom>
          <a:noFill/>
        </p:spPr>
        <p:txBody>
          <a:bodyPr wrap="square" lIns="0" tIns="0" rIns="0" bIns="0" anchor="t">
            <a:spAutoFit/>
          </a:bodyPr>
          <a:lstStyle/>
          <a:p>
            <a:pPr marL="0" indent="0" algn="l">
              <a:spcAft>
                <a:spcPts val="200"/>
              </a:spcAft>
              <a:buNone/>
            </a:pPr>
            <a:r>
              <a:rPr sz="1500" b="1" i="0">
                <a:solidFill>
                  <a:srgbClr val="14142B"/>
                </a:solidFill>
                <a:latin typeface="Calibri"/>
              </a:rPr>
              <a:t>“my phone time is in 24 hrs”</a:t>
            </a:r>
          </a:p>
          <a:p>
            <a:pPr marL="0" indent="0" algn="l">
              <a:spcAft>
                <a:spcPts val="200"/>
              </a:spcAft>
              <a:buNone/>
            </a:pPr>
            <a:r>
              <a:rPr sz="1300" b="0" i="0">
                <a:solidFill>
                  <a:srgbClr val="63637E"/>
                </a:solidFill>
                <a:latin typeface="Calibri"/>
              </a:rPr>
              <a:t>one-screen Configuration plan: Switch Time Format</a:t>
            </a:r>
          </a:p>
        </p:txBody>
      </p:sp>
      <p:sp>
        <p:nvSpPr>
          <p:cNvPr id="11" name="Oval 10"/>
          <p:cNvSpPr/>
          <p:nvPr/>
        </p:nvSpPr>
        <p:spPr>
          <a:xfrm>
            <a:off x="548640" y="4653344"/>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5</a:t>
            </a:r>
          </a:p>
        </p:txBody>
      </p:sp>
      <p:sp>
        <p:nvSpPr>
          <p:cNvPr id="12" name="TextBox 11"/>
          <p:cNvSpPr txBox="1"/>
          <p:nvPr/>
        </p:nvSpPr>
        <p:spPr>
          <a:xfrm>
            <a:off x="1143000" y="4607624"/>
            <a:ext cx="4754880" cy="685800"/>
          </a:xfrm>
          <a:prstGeom prst="rect">
            <a:avLst/>
          </a:prstGeom>
          <a:noFill/>
        </p:spPr>
        <p:txBody>
          <a:bodyPr wrap="square" lIns="0" tIns="0" rIns="0" bIns="0" anchor="t">
            <a:spAutoFit/>
          </a:bodyPr>
          <a:lstStyle/>
          <a:p>
            <a:pPr marL="0" indent="0" algn="l">
              <a:spcAft>
                <a:spcPts val="200"/>
              </a:spcAft>
              <a:buNone/>
            </a:pPr>
            <a:r>
              <a:rPr sz="1500" b="1" i="0">
                <a:solidFill>
                  <a:srgbClr val="14142B"/>
                </a:solidFill>
                <a:latin typeface="Calibri"/>
              </a:rPr>
              <a:t>Off-topic and too-vague questions</a:t>
            </a:r>
          </a:p>
          <a:p>
            <a:pPr marL="0" indent="0" algn="l">
              <a:spcAft>
                <a:spcPts val="200"/>
              </a:spcAft>
              <a:buNone/>
            </a:pPr>
            <a:r>
              <a:rPr sz="1300" b="0" i="0">
                <a:solidFill>
                  <a:srgbClr val="63637E"/>
                </a:solidFill>
                <a:latin typeface="Calibri"/>
              </a:rPr>
              <a:t>refused with no_match / no_siis_context, nothing invented</a:t>
            </a:r>
          </a:p>
        </p:txBody>
      </p:sp>
      <p:sp>
        <p:nvSpPr>
          <p:cNvPr id="13" name="Oval 12"/>
          <p:cNvSpPr/>
          <p:nvPr/>
        </p:nvSpPr>
        <p:spPr>
          <a:xfrm>
            <a:off x="548640" y="534828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6</a:t>
            </a:r>
          </a:p>
        </p:txBody>
      </p:sp>
      <p:sp>
        <p:nvSpPr>
          <p:cNvPr id="14" name="TextBox 13"/>
          <p:cNvSpPr txBox="1"/>
          <p:nvPr/>
        </p:nvSpPr>
        <p:spPr>
          <a:xfrm>
            <a:off x="1143000" y="5302568"/>
            <a:ext cx="4754880" cy="685800"/>
          </a:xfrm>
          <a:prstGeom prst="rect">
            <a:avLst/>
          </a:prstGeom>
          <a:noFill/>
        </p:spPr>
        <p:txBody>
          <a:bodyPr wrap="square" lIns="0" tIns="0" rIns="0" bIns="0" anchor="t">
            <a:spAutoFit/>
          </a:bodyPr>
          <a:lstStyle/>
          <a:p>
            <a:pPr marL="0" indent="0" algn="l">
              <a:spcAft>
                <a:spcPts val="200"/>
              </a:spcAft>
              <a:buNone/>
            </a:pPr>
            <a:r>
              <a:rPr sz="1500" b="1" i="0">
                <a:solidFill>
                  <a:srgbClr val="14142B"/>
                </a:solidFill>
                <a:latin typeface="Calibri"/>
              </a:rPr>
              <a:t>Side panel</a:t>
            </a:r>
          </a:p>
          <a:p>
            <a:pPr marL="0" indent="0" algn="l">
              <a:spcAft>
                <a:spcPts val="200"/>
              </a:spcAft>
              <a:buNone/>
            </a:pPr>
            <a:r>
              <a:rPr sz="1300" b="0" i="0">
                <a:solidFill>
                  <a:srgbClr val="63637E"/>
                </a:solidFill>
                <a:latin typeface="Calibri"/>
              </a:rPr>
              <a:t>cache tier, relevance check, planner, LLM calls, cost, latency, contract checks</a:t>
            </a:r>
          </a:p>
        </p:txBody>
      </p:sp>
      <p:sp>
        <p:nvSpPr>
          <p:cNvPr id="15" name="TextBox 14"/>
          <p:cNvSpPr txBox="1"/>
          <p:nvPr/>
        </p:nvSpPr>
        <p:spPr>
          <a:xfrm>
            <a:off x="548640" y="6262688"/>
            <a:ext cx="5394960" cy="365760"/>
          </a:xfrm>
          <a:prstGeom prst="rect">
            <a:avLst/>
          </a:prstGeom>
          <a:noFill/>
        </p:spPr>
        <p:txBody>
          <a:bodyPr wrap="square" lIns="0" tIns="0" rIns="0" bIns="0" anchor="t">
            <a:spAutoFit/>
          </a:bodyPr>
          <a:lstStyle/>
          <a:p>
            <a:pPr marL="0" indent="0" algn="l">
              <a:spcAft>
                <a:spcPts val="600"/>
              </a:spcAft>
              <a:buNone/>
            </a:pPr>
            <a:r>
              <a:rPr sz="1400" b="1" i="0">
                <a:solidFill>
                  <a:srgbClr val="14142B"/>
                </a:solidFill>
                <a:latin typeface="Calibri"/>
              </a:rPr>
              <a:t>Demo video: </a:t>
            </a:r>
            <a:r>
              <a:rPr sz="1400" b="0" i="0">
                <a:solidFill>
                  <a:srgbClr val="6D28D9"/>
                </a:solidFill>
                <a:latin typeface="Calibri"/>
              </a:rPr>
              <a:t>[YouTube / Drive link]</a:t>
            </a:r>
          </a:p>
        </p:txBody>
      </p:sp>
      <p:sp>
        <p:nvSpPr>
          <p:cNvPr id="16" name="Rounded Rectangle 15"/>
          <p:cNvSpPr/>
          <p:nvPr/>
        </p:nvSpPr>
        <p:spPr>
          <a:xfrm>
            <a:off x="6053328" y="1754696"/>
            <a:ext cx="5660136" cy="4084755"/>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ui_cache_hit.png"/>
          <p:cNvPicPr>
            <a:picLocks noChangeAspect="1"/>
          </p:cNvPicPr>
          <p:nvPr/>
        </p:nvPicPr>
        <p:blipFill>
          <a:blip r:embed="rId2"/>
          <a:stretch>
            <a:fillRect/>
          </a:stretch>
        </p:blipFill>
        <p:spPr>
          <a:xfrm>
            <a:off x="6126480" y="1827848"/>
            <a:ext cx="5513832" cy="3938451"/>
          </a:xfrm>
          <a:prstGeom prst="rect">
            <a:avLst/>
          </a:prstGeom>
        </p:spPr>
      </p:pic>
      <p:sp>
        <p:nvSpPr>
          <p:cNvPr id="18" name="TextBox 17"/>
          <p:cNvSpPr txBox="1"/>
          <p:nvPr/>
        </p:nvSpPr>
        <p:spPr>
          <a:xfrm>
            <a:off x="6126480" y="5903459"/>
            <a:ext cx="5513832" cy="320040"/>
          </a:xfrm>
          <a:prstGeom prst="rect">
            <a:avLst/>
          </a:prstGeom>
          <a:noFill/>
        </p:spPr>
        <p:txBody>
          <a:bodyPr wrap="square" lIns="0" tIns="0" rIns="0" bIns="0" anchor="t">
            <a:spAutoFit/>
          </a:bodyPr>
          <a:lstStyle/>
          <a:p>
            <a:pPr marL="0" indent="0" algn="ctr">
              <a:spcAft>
                <a:spcPts val="600"/>
              </a:spcAft>
              <a:buNone/>
            </a:pPr>
            <a:r>
              <a:rPr sz="1100" b="0" i="0">
                <a:solidFill>
                  <a:srgbClr val="63637E"/>
                </a:solidFill>
                <a:latin typeface="Calibri"/>
              </a:rPr>
              <a:t>Demo UI: a paraphrase served from the semantic cache, with the trace panel and contract checks</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Rounded Rectangle 2"/>
          <p:cNvSpPr/>
          <p:nvPr/>
        </p:nvSpPr>
        <p:spPr>
          <a:xfrm>
            <a:off x="548640" y="1827848"/>
            <a:ext cx="5394960" cy="1024128"/>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1520" y="2102168"/>
            <a:ext cx="475488" cy="47548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A</a:t>
            </a:r>
          </a:p>
        </p:txBody>
      </p:sp>
      <p:sp>
        <p:nvSpPr>
          <p:cNvPr id="5" name="TextBox 4"/>
          <p:cNvSpPr txBox="1"/>
          <p:nvPr/>
        </p:nvSpPr>
        <p:spPr>
          <a:xfrm>
            <a:off x="1371600" y="1955864"/>
            <a:ext cx="4389120" cy="841248"/>
          </a:xfrm>
          <a:prstGeom prst="rect">
            <a:avLst/>
          </a:prstGeom>
          <a:noFill/>
        </p:spPr>
        <p:txBody>
          <a:bodyPr wrap="square" lIns="0" tIns="0" rIns="0" bIns="0" anchor="t">
            <a:spAutoFit/>
          </a:bodyPr>
          <a:lstStyle/>
          <a:p>
            <a:pPr marL="0" indent="0" algn="l">
              <a:spcAft>
                <a:spcPts val="300"/>
              </a:spcAft>
              <a:buNone/>
            </a:pPr>
            <a:r>
              <a:rPr sz="1500" b="1" i="0">
                <a:solidFill>
                  <a:srgbClr val="14142B"/>
                </a:solidFill>
                <a:latin typeface="Arial"/>
              </a:rPr>
              <a:t>API</a:t>
            </a:r>
          </a:p>
          <a:p>
            <a:pPr marL="0" indent="0" algn="l">
              <a:spcAft>
                <a:spcPts val="300"/>
              </a:spcAft>
              <a:buNone/>
            </a:pPr>
            <a:r>
              <a:rPr sz="1300" b="0" i="0">
                <a:solidFill>
                  <a:srgbClr val="63637E"/>
                </a:solidFill>
                <a:latin typeface="Calibri"/>
              </a:rPr>
              <a:t>Python · FastAPI · Uvicorn · Pydantic v2</a:t>
            </a:r>
          </a:p>
        </p:txBody>
      </p:sp>
      <p:sp>
        <p:nvSpPr>
          <p:cNvPr id="6" name="Rounded Rectangle 5"/>
          <p:cNvSpPr/>
          <p:nvPr/>
        </p:nvSpPr>
        <p:spPr>
          <a:xfrm>
            <a:off x="6245352" y="1827848"/>
            <a:ext cx="5394960" cy="1024128"/>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28232" y="2102168"/>
            <a:ext cx="475488" cy="47548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L</a:t>
            </a:r>
          </a:p>
        </p:txBody>
      </p:sp>
      <p:sp>
        <p:nvSpPr>
          <p:cNvPr id="8" name="TextBox 7"/>
          <p:cNvSpPr txBox="1"/>
          <p:nvPr/>
        </p:nvSpPr>
        <p:spPr>
          <a:xfrm>
            <a:off x="7068312" y="1955864"/>
            <a:ext cx="4389120" cy="841248"/>
          </a:xfrm>
          <a:prstGeom prst="rect">
            <a:avLst/>
          </a:prstGeom>
          <a:noFill/>
        </p:spPr>
        <p:txBody>
          <a:bodyPr wrap="square" lIns="0" tIns="0" rIns="0" bIns="0" anchor="t">
            <a:spAutoFit/>
          </a:bodyPr>
          <a:lstStyle/>
          <a:p>
            <a:pPr marL="0" indent="0" algn="l">
              <a:spcAft>
                <a:spcPts val="300"/>
              </a:spcAft>
              <a:buNone/>
            </a:pPr>
            <a:r>
              <a:rPr sz="1500" b="1" i="0">
                <a:solidFill>
                  <a:srgbClr val="14142B"/>
                </a:solidFill>
                <a:latin typeface="Arial"/>
              </a:rPr>
              <a:t>LLMs</a:t>
            </a:r>
          </a:p>
          <a:p>
            <a:pPr marL="0" indent="0" algn="l">
              <a:spcAft>
                <a:spcPts val="300"/>
              </a:spcAft>
              <a:buNone/>
            </a:pPr>
            <a:r>
              <a:rPr sz="1300" b="0" i="0">
                <a:solidFill>
                  <a:srgbClr val="63637E"/>
                </a:solidFill>
                <a:latin typeface="Calibri"/>
              </a:rPr>
              <a:t>OpenAI gpt-4o-mini (own key) or NVIDIA Nemotron super-120b (free tier) via the OpenAI SDK · json_repair</a:t>
            </a:r>
          </a:p>
        </p:txBody>
      </p:sp>
      <p:sp>
        <p:nvSpPr>
          <p:cNvPr id="9" name="Rounded Rectangle 8"/>
          <p:cNvSpPr/>
          <p:nvPr/>
        </p:nvSpPr>
        <p:spPr>
          <a:xfrm>
            <a:off x="548640" y="3016568"/>
            <a:ext cx="5394960" cy="1024128"/>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31520" y="3290888"/>
            <a:ext cx="475488" cy="47548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E</a:t>
            </a:r>
          </a:p>
        </p:txBody>
      </p:sp>
      <p:sp>
        <p:nvSpPr>
          <p:cNvPr id="11" name="TextBox 10"/>
          <p:cNvSpPr txBox="1"/>
          <p:nvPr/>
        </p:nvSpPr>
        <p:spPr>
          <a:xfrm>
            <a:off x="1371600" y="3144584"/>
            <a:ext cx="4389120" cy="841248"/>
          </a:xfrm>
          <a:prstGeom prst="rect">
            <a:avLst/>
          </a:prstGeom>
          <a:noFill/>
        </p:spPr>
        <p:txBody>
          <a:bodyPr wrap="square" lIns="0" tIns="0" rIns="0" bIns="0" anchor="t">
            <a:spAutoFit/>
          </a:bodyPr>
          <a:lstStyle/>
          <a:p>
            <a:pPr marL="0" indent="0" algn="l">
              <a:spcAft>
                <a:spcPts val="300"/>
              </a:spcAft>
              <a:buNone/>
            </a:pPr>
            <a:r>
              <a:rPr sz="1500" b="1" i="0">
                <a:solidFill>
                  <a:srgbClr val="14142B"/>
                </a:solidFill>
                <a:latin typeface="Arial"/>
              </a:rPr>
              <a:t>Embeddings</a:t>
            </a:r>
          </a:p>
          <a:p>
            <a:pPr marL="0" indent="0" algn="l">
              <a:spcAft>
                <a:spcPts val="300"/>
              </a:spcAft>
              <a:buNone/>
            </a:pPr>
            <a:r>
              <a:rPr sz="1300" b="0" i="0">
                <a:solidFill>
                  <a:srgbClr val="63637E"/>
                </a:solidFill>
                <a:latin typeface="Calibri"/>
              </a:rPr>
              <a:t>fastembed + BAAI bge-small-en-v1.5 on CPU, baked into the Docker image</a:t>
            </a:r>
          </a:p>
        </p:txBody>
      </p:sp>
      <p:sp>
        <p:nvSpPr>
          <p:cNvPr id="12" name="Rounded Rectangle 11"/>
          <p:cNvSpPr/>
          <p:nvPr/>
        </p:nvSpPr>
        <p:spPr>
          <a:xfrm>
            <a:off x="6245352" y="3016568"/>
            <a:ext cx="5394960" cy="1024128"/>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28232" y="3290888"/>
            <a:ext cx="475488" cy="47548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C</a:t>
            </a:r>
          </a:p>
        </p:txBody>
      </p:sp>
      <p:sp>
        <p:nvSpPr>
          <p:cNvPr id="14" name="TextBox 13"/>
          <p:cNvSpPr txBox="1"/>
          <p:nvPr/>
        </p:nvSpPr>
        <p:spPr>
          <a:xfrm>
            <a:off x="7068312" y="3144584"/>
            <a:ext cx="4389120" cy="841248"/>
          </a:xfrm>
          <a:prstGeom prst="rect">
            <a:avLst/>
          </a:prstGeom>
          <a:noFill/>
        </p:spPr>
        <p:txBody>
          <a:bodyPr wrap="square" lIns="0" tIns="0" rIns="0" bIns="0" anchor="t">
            <a:spAutoFit/>
          </a:bodyPr>
          <a:lstStyle/>
          <a:p>
            <a:pPr marL="0" indent="0" algn="l">
              <a:spcAft>
                <a:spcPts val="300"/>
              </a:spcAft>
              <a:buNone/>
            </a:pPr>
            <a:r>
              <a:rPr sz="1500" b="1" i="0">
                <a:solidFill>
                  <a:srgbClr val="14142B"/>
                </a:solidFill>
                <a:latin typeface="Arial"/>
              </a:rPr>
              <a:t>Cache &amp; similarity</a:t>
            </a:r>
          </a:p>
          <a:p>
            <a:pPr marL="0" indent="0" algn="l">
              <a:spcAft>
                <a:spcPts val="300"/>
              </a:spcAft>
              <a:buNone/>
            </a:pPr>
            <a:r>
              <a:rPr sz="1300" b="0" i="0">
                <a:solidFill>
                  <a:srgbClr val="63637E"/>
                </a:solidFill>
                <a:latin typeface="Calibri"/>
              </a:rPr>
              <a:t>NumPy · catalog-IDF similarity · trigram blend · facet guards · atomic JSON persistence</a:t>
            </a:r>
          </a:p>
        </p:txBody>
      </p:sp>
      <p:sp>
        <p:nvSpPr>
          <p:cNvPr id="15" name="Rounded Rectangle 14"/>
          <p:cNvSpPr/>
          <p:nvPr/>
        </p:nvSpPr>
        <p:spPr>
          <a:xfrm>
            <a:off x="548640" y="4205288"/>
            <a:ext cx="5394960" cy="1024128"/>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31520" y="4479608"/>
            <a:ext cx="475488" cy="47548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F</a:t>
            </a:r>
          </a:p>
        </p:txBody>
      </p:sp>
      <p:sp>
        <p:nvSpPr>
          <p:cNvPr id="17" name="TextBox 16"/>
          <p:cNvSpPr txBox="1"/>
          <p:nvPr/>
        </p:nvSpPr>
        <p:spPr>
          <a:xfrm>
            <a:off x="1371600" y="4333304"/>
            <a:ext cx="4389120" cy="841248"/>
          </a:xfrm>
          <a:prstGeom prst="rect">
            <a:avLst/>
          </a:prstGeom>
          <a:noFill/>
        </p:spPr>
        <p:txBody>
          <a:bodyPr wrap="square" lIns="0" tIns="0" rIns="0" bIns="0" anchor="t">
            <a:spAutoFit/>
          </a:bodyPr>
          <a:lstStyle/>
          <a:p>
            <a:pPr marL="0" indent="0" algn="l">
              <a:spcAft>
                <a:spcPts val="300"/>
              </a:spcAft>
              <a:buNone/>
            </a:pPr>
            <a:r>
              <a:rPr sz="1500" b="1" i="0">
                <a:solidFill>
                  <a:srgbClr val="14142B"/>
                </a:solidFill>
                <a:latin typeface="Arial"/>
              </a:rPr>
              <a:t>Frontend</a:t>
            </a:r>
          </a:p>
          <a:p>
            <a:pPr marL="0" indent="0" algn="l">
              <a:spcAft>
                <a:spcPts val="300"/>
              </a:spcAft>
              <a:buNone/>
            </a:pPr>
            <a:r>
              <a:rPr sz="1300" b="0" i="0">
                <a:solidFill>
                  <a:srgbClr val="63637E"/>
                </a:solidFill>
                <a:latin typeface="Calibri"/>
              </a:rPr>
              <a:t>HTML · CSS · JavaScript, served by nginx</a:t>
            </a:r>
          </a:p>
        </p:txBody>
      </p:sp>
      <p:sp>
        <p:nvSpPr>
          <p:cNvPr id="18" name="Rounded Rectangle 17"/>
          <p:cNvSpPr/>
          <p:nvPr/>
        </p:nvSpPr>
        <p:spPr>
          <a:xfrm>
            <a:off x="6245352" y="4205288"/>
            <a:ext cx="5394960" cy="1024128"/>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428232" y="4479608"/>
            <a:ext cx="475488" cy="47548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D</a:t>
            </a:r>
          </a:p>
        </p:txBody>
      </p:sp>
      <p:sp>
        <p:nvSpPr>
          <p:cNvPr id="20" name="TextBox 19"/>
          <p:cNvSpPr txBox="1"/>
          <p:nvPr/>
        </p:nvSpPr>
        <p:spPr>
          <a:xfrm>
            <a:off x="7068312" y="4333304"/>
            <a:ext cx="4389120" cy="841248"/>
          </a:xfrm>
          <a:prstGeom prst="rect">
            <a:avLst/>
          </a:prstGeom>
          <a:noFill/>
        </p:spPr>
        <p:txBody>
          <a:bodyPr wrap="square" lIns="0" tIns="0" rIns="0" bIns="0" anchor="t">
            <a:spAutoFit/>
          </a:bodyPr>
          <a:lstStyle/>
          <a:p>
            <a:pPr marL="0" indent="0" algn="l">
              <a:spcAft>
                <a:spcPts val="300"/>
              </a:spcAft>
              <a:buNone/>
            </a:pPr>
            <a:r>
              <a:rPr sz="1500" b="1" i="0">
                <a:solidFill>
                  <a:srgbClr val="14142B"/>
                </a:solidFill>
                <a:latin typeface="Arial"/>
              </a:rPr>
              <a:t>DevOps</a:t>
            </a:r>
          </a:p>
          <a:p>
            <a:pPr marL="0" indent="0" algn="l">
              <a:spcAft>
                <a:spcPts val="300"/>
              </a:spcAft>
              <a:buNone/>
            </a:pPr>
            <a:r>
              <a:rPr sz="1300" b="0" i="0">
                <a:solidFill>
                  <a:srgbClr val="63637E"/>
                </a:solidFill>
                <a:latin typeface="Calibri"/>
              </a:rPr>
              <a:t>Docker · Docker Compose · start scripts for bash and PowerShell</a:t>
            </a:r>
          </a:p>
        </p:txBody>
      </p:sp>
      <p:sp>
        <p:nvSpPr>
          <p:cNvPr id="21" name="Rounded Rectangle 20"/>
          <p:cNvSpPr/>
          <p:nvPr/>
        </p:nvSpPr>
        <p:spPr>
          <a:xfrm>
            <a:off x="548640" y="5394008"/>
            <a:ext cx="5394960" cy="1024128"/>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31520" y="5668328"/>
            <a:ext cx="475488" cy="47548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Q</a:t>
            </a:r>
          </a:p>
        </p:txBody>
      </p:sp>
      <p:sp>
        <p:nvSpPr>
          <p:cNvPr id="23" name="TextBox 22"/>
          <p:cNvSpPr txBox="1"/>
          <p:nvPr/>
        </p:nvSpPr>
        <p:spPr>
          <a:xfrm>
            <a:off x="1371600" y="5522024"/>
            <a:ext cx="4389120" cy="841248"/>
          </a:xfrm>
          <a:prstGeom prst="rect">
            <a:avLst/>
          </a:prstGeom>
          <a:noFill/>
        </p:spPr>
        <p:txBody>
          <a:bodyPr wrap="square" lIns="0" tIns="0" rIns="0" bIns="0" anchor="t">
            <a:spAutoFit/>
          </a:bodyPr>
          <a:lstStyle/>
          <a:p>
            <a:pPr marL="0" indent="0" algn="l">
              <a:spcAft>
                <a:spcPts val="300"/>
              </a:spcAft>
              <a:buNone/>
            </a:pPr>
            <a:r>
              <a:rPr sz="1500" b="1" i="0">
                <a:solidFill>
                  <a:srgbClr val="14142B"/>
                </a:solidFill>
                <a:latin typeface="Arial"/>
              </a:rPr>
              <a:t>Quality</a:t>
            </a:r>
          </a:p>
          <a:p>
            <a:pPr marL="0" indent="0" algn="l">
              <a:spcAft>
                <a:spcPts val="300"/>
              </a:spcAft>
              <a:buNone/>
            </a:pPr>
            <a:r>
              <a:rPr sz="1300" b="0" i="0">
                <a:solidFill>
                  <a:srgbClr val="63637E"/>
                </a:solidFill>
                <a:latin typeface="Calibri"/>
              </a:rPr>
              <a:t>pytest (433 tests) · benchmark, robustness, load, typo and deeplink-audit scripts</a:t>
            </a:r>
          </a:p>
        </p:txBody>
      </p:sp>
      <p:sp>
        <p:nvSpPr>
          <p:cNvPr id="24" name="Rounded Rectangle 23"/>
          <p:cNvSpPr/>
          <p:nvPr/>
        </p:nvSpPr>
        <p:spPr>
          <a:xfrm>
            <a:off x="6245352" y="5394008"/>
            <a:ext cx="5394960" cy="1024128"/>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428232" y="5668328"/>
            <a:ext cx="475488" cy="47548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A</a:t>
            </a:r>
          </a:p>
        </p:txBody>
      </p:sp>
      <p:sp>
        <p:nvSpPr>
          <p:cNvPr id="26" name="TextBox 25"/>
          <p:cNvSpPr txBox="1"/>
          <p:nvPr/>
        </p:nvSpPr>
        <p:spPr>
          <a:xfrm>
            <a:off x="7068312" y="5522024"/>
            <a:ext cx="4389120" cy="841248"/>
          </a:xfrm>
          <a:prstGeom prst="rect">
            <a:avLst/>
          </a:prstGeom>
          <a:noFill/>
        </p:spPr>
        <p:txBody>
          <a:bodyPr wrap="square" lIns="0" tIns="0" rIns="0" bIns="0" anchor="t">
            <a:spAutoFit/>
          </a:bodyPr>
          <a:lstStyle/>
          <a:p>
            <a:pPr marL="0" indent="0" algn="l">
              <a:spcAft>
                <a:spcPts val="300"/>
              </a:spcAft>
              <a:buNone/>
            </a:pPr>
            <a:r>
              <a:rPr sz="1500" b="1" i="0">
                <a:solidFill>
                  <a:srgbClr val="14142B"/>
                </a:solidFill>
                <a:latin typeface="Arial"/>
              </a:rPr>
              <a:t>AI assistance</a:t>
            </a:r>
          </a:p>
          <a:p>
            <a:pPr marL="0" indent="0" algn="l">
              <a:spcAft>
                <a:spcPts val="300"/>
              </a:spcAft>
              <a:buNone/>
            </a:pPr>
            <a:r>
              <a:rPr sz="1300" b="0" i="0">
                <a:solidFill>
                  <a:srgbClr val="63637E"/>
                </a:solidFill>
                <a:latin typeface="Calibri"/>
              </a:rPr>
              <a:t>Antigravity AI (M1) · Claude Code (M3), declared per feature in the AI disclosure form</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Rounded Rectangle 2"/>
          <p:cNvSpPr/>
          <p:nvPr/>
        </p:nvSpPr>
        <p:spPr>
          <a:xfrm>
            <a:off x="548640" y="1827848"/>
            <a:ext cx="3566160" cy="12344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937576"/>
            <a:ext cx="3200400" cy="640080"/>
          </a:xfrm>
          <a:prstGeom prst="rect">
            <a:avLst/>
          </a:prstGeom>
          <a:noFill/>
        </p:spPr>
        <p:txBody>
          <a:bodyPr wrap="square" lIns="0" tIns="0" rIns="0" bIns="0" anchor="t">
            <a:spAutoFit/>
          </a:bodyPr>
          <a:lstStyle/>
          <a:p>
            <a:pPr marL="0" indent="0" algn="l">
              <a:spcAft>
                <a:spcPts val="600"/>
              </a:spcAft>
              <a:buNone/>
            </a:pPr>
            <a:r>
              <a:rPr sz="3000" b="1" i="0">
                <a:solidFill>
                  <a:srgbClr val="6D28D9"/>
                </a:solidFill>
                <a:latin typeface="Arial"/>
              </a:rPr>
              <a:t>80.4%</a:t>
            </a:r>
          </a:p>
        </p:txBody>
      </p:sp>
      <p:sp>
        <p:nvSpPr>
          <p:cNvPr id="5" name="TextBox 4"/>
          <p:cNvSpPr txBox="1"/>
          <p:nvPr/>
        </p:nvSpPr>
        <p:spPr>
          <a:xfrm>
            <a:off x="731520" y="2559368"/>
            <a:ext cx="3200400" cy="457200"/>
          </a:xfrm>
          <a:prstGeom prst="rect">
            <a:avLst/>
          </a:prstGeom>
          <a:noFill/>
        </p:spPr>
        <p:txBody>
          <a:bodyPr wrap="square" lIns="0" tIns="0" rIns="0" bIns="0" anchor="t">
            <a:spAutoFit/>
          </a:bodyPr>
          <a:lstStyle/>
          <a:p>
            <a:pPr marL="0" indent="0" algn="l">
              <a:spcAft>
                <a:spcPts val="600"/>
              </a:spcAft>
              <a:buNone/>
            </a:pPr>
            <a:r>
              <a:rPr sz="1200" b="0" i="0">
                <a:solidFill>
                  <a:srgbClr val="63637E"/>
                </a:solidFill>
                <a:latin typeface="Calibri"/>
              </a:rPr>
              <a:t>of held-out paraphrases answered from cache, with 0 LLM calls and 0 wrong hits</a:t>
            </a:r>
          </a:p>
        </p:txBody>
      </p:sp>
      <p:sp>
        <p:nvSpPr>
          <p:cNvPr id="6" name="Rounded Rectangle 5"/>
          <p:cNvSpPr/>
          <p:nvPr/>
        </p:nvSpPr>
        <p:spPr>
          <a:xfrm>
            <a:off x="4311396" y="1827848"/>
            <a:ext cx="3566160" cy="12344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94276" y="1937576"/>
            <a:ext cx="3200400" cy="640080"/>
          </a:xfrm>
          <a:prstGeom prst="rect">
            <a:avLst/>
          </a:prstGeom>
          <a:noFill/>
        </p:spPr>
        <p:txBody>
          <a:bodyPr wrap="square" lIns="0" tIns="0" rIns="0" bIns="0" anchor="t">
            <a:spAutoFit/>
          </a:bodyPr>
          <a:lstStyle/>
          <a:p>
            <a:pPr marL="0" indent="0" algn="l">
              <a:spcAft>
                <a:spcPts val="600"/>
              </a:spcAft>
              <a:buNone/>
            </a:pPr>
            <a:r>
              <a:rPr sz="3000" b="1" i="0">
                <a:solidFill>
                  <a:srgbClr val="0F9D8A"/>
                </a:solidFill>
                <a:latin typeface="Arial"/>
              </a:rPr>
              <a:t>81 ms</a:t>
            </a:r>
          </a:p>
        </p:txBody>
      </p:sp>
      <p:sp>
        <p:nvSpPr>
          <p:cNvPr id="8" name="TextBox 7"/>
          <p:cNvSpPr txBox="1"/>
          <p:nvPr/>
        </p:nvSpPr>
        <p:spPr>
          <a:xfrm>
            <a:off x="4494276" y="2559368"/>
            <a:ext cx="3200400" cy="457200"/>
          </a:xfrm>
          <a:prstGeom prst="rect">
            <a:avLst/>
          </a:prstGeom>
          <a:noFill/>
        </p:spPr>
        <p:txBody>
          <a:bodyPr wrap="square" lIns="0" tIns="0" rIns="0" bIns="0" anchor="t">
            <a:spAutoFit/>
          </a:bodyPr>
          <a:lstStyle/>
          <a:p>
            <a:pPr marL="0" indent="0" algn="l">
              <a:spcAft>
                <a:spcPts val="600"/>
              </a:spcAft>
              <a:buNone/>
            </a:pPr>
            <a:r>
              <a:rPr sz="1200" b="0" i="0">
                <a:solidFill>
                  <a:srgbClr val="63637E"/>
                </a:solidFill>
                <a:latin typeface="Calibri"/>
              </a:rPr>
              <a:t>p95 for a cached answer under 16 concurrent users</a:t>
            </a:r>
          </a:p>
        </p:txBody>
      </p:sp>
      <p:sp>
        <p:nvSpPr>
          <p:cNvPr id="9" name="Rounded Rectangle 8"/>
          <p:cNvSpPr/>
          <p:nvPr/>
        </p:nvSpPr>
        <p:spPr>
          <a:xfrm>
            <a:off x="8074152" y="1827848"/>
            <a:ext cx="3566160" cy="12344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57032" y="1937576"/>
            <a:ext cx="3200400" cy="640080"/>
          </a:xfrm>
          <a:prstGeom prst="rect">
            <a:avLst/>
          </a:prstGeom>
          <a:noFill/>
        </p:spPr>
        <p:txBody>
          <a:bodyPr wrap="square" lIns="0" tIns="0" rIns="0" bIns="0" anchor="t">
            <a:spAutoFit/>
          </a:bodyPr>
          <a:lstStyle/>
          <a:p>
            <a:pPr marL="0" indent="0" algn="l">
              <a:spcAft>
                <a:spcPts val="600"/>
              </a:spcAft>
              <a:buNone/>
            </a:pPr>
            <a:r>
              <a:rPr sz="3000" b="1" i="0">
                <a:solidFill>
                  <a:srgbClr val="C2770E"/>
                </a:solidFill>
                <a:latin typeface="Arial"/>
              </a:rPr>
              <a:t>0</a:t>
            </a:r>
          </a:p>
        </p:txBody>
      </p:sp>
      <p:sp>
        <p:nvSpPr>
          <p:cNvPr id="11" name="TextBox 10"/>
          <p:cNvSpPr txBox="1"/>
          <p:nvPr/>
        </p:nvSpPr>
        <p:spPr>
          <a:xfrm>
            <a:off x="8257032" y="2559368"/>
            <a:ext cx="3200400" cy="457200"/>
          </a:xfrm>
          <a:prstGeom prst="rect">
            <a:avLst/>
          </a:prstGeom>
          <a:noFill/>
        </p:spPr>
        <p:txBody>
          <a:bodyPr wrap="square" lIns="0" tIns="0" rIns="0" bIns="0" anchor="t">
            <a:spAutoFit/>
          </a:bodyPr>
          <a:lstStyle/>
          <a:p>
            <a:pPr marL="0" indent="0" algn="l">
              <a:spcAft>
                <a:spcPts val="600"/>
              </a:spcAft>
              <a:buNone/>
            </a:pPr>
            <a:r>
              <a:rPr sz="1200" b="0" i="0">
                <a:solidFill>
                  <a:srgbClr val="63637E"/>
                </a:solidFill>
                <a:latin typeface="Calibri"/>
              </a:rPr>
              <a:t>invented deeplinks: 74/74 delivered links come from Samsung's catalog</a:t>
            </a:r>
          </a:p>
        </p:txBody>
      </p:sp>
      <p:sp>
        <p:nvSpPr>
          <p:cNvPr id="12" name="Rounded Rectangle 11"/>
          <p:cNvSpPr/>
          <p:nvPr/>
        </p:nvSpPr>
        <p:spPr>
          <a:xfrm>
            <a:off x="548640" y="3336608"/>
            <a:ext cx="3566160" cy="2377440"/>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519488"/>
            <a:ext cx="3108960" cy="320040"/>
          </a:xfrm>
          <a:prstGeom prst="rect">
            <a:avLst/>
          </a:prstGeom>
          <a:noFill/>
        </p:spPr>
        <p:txBody>
          <a:bodyPr wrap="square" lIns="0" tIns="0" rIns="0" bIns="0" anchor="t">
            <a:spAutoFit/>
          </a:bodyPr>
          <a:lstStyle/>
          <a:p>
            <a:pPr marL="0" indent="0" algn="l">
              <a:spcAft>
                <a:spcPts val="600"/>
              </a:spcAft>
              <a:buNone/>
            </a:pPr>
            <a:r>
              <a:rPr sz="1600" b="1" i="0">
                <a:solidFill>
                  <a:srgbClr val="14142B"/>
                </a:solidFill>
                <a:latin typeface="Arial"/>
              </a:rPr>
              <a:t>For customers</a:t>
            </a:r>
          </a:p>
        </p:txBody>
      </p:sp>
      <p:sp>
        <p:nvSpPr>
          <p:cNvPr id="14" name="TextBox 13"/>
          <p:cNvSpPr txBox="1"/>
          <p:nvPr/>
        </p:nvSpPr>
        <p:spPr>
          <a:xfrm>
            <a:off x="777240" y="3976688"/>
            <a:ext cx="3108960" cy="2148840"/>
          </a:xfrm>
          <a:prstGeom prst="rect">
            <a:avLst/>
          </a:prstGeom>
          <a:noFill/>
        </p:spPr>
        <p:txBody>
          <a:bodyPr wrap="square" lIns="0" tIns="0" rIns="0" bIns="0" anchor="t">
            <a:spAutoFit/>
          </a:bodyPr>
          <a:lstStyle/>
          <a:p>
            <a:pPr marL="177800" indent="-177800" algn="l">
              <a:spcAft>
                <a:spcPts val="800"/>
              </a:spcAft>
              <a:buChar char="•"/>
            </a:pPr>
            <a:r>
              <a:rPr sz="1400" b="0" i="0">
                <a:solidFill>
                  <a:srgbClr val="63637E"/>
                </a:solidFill>
                <a:latin typeface="Calibri"/>
              </a:rPr>
              <a:t>Self-service fixes in seconds instead of a support call</a:t>
            </a:r>
          </a:p>
          <a:p>
            <a:pPr marL="177800" indent="-177800" algn="l">
              <a:spcAft>
                <a:spcPts val="800"/>
              </a:spcAft>
              <a:buChar char="•"/>
            </a:pPr>
            <a:r>
              <a:rPr sz="1400" b="0" i="0">
                <a:solidFill>
                  <a:srgbClr val="63637E"/>
                </a:solidFill>
                <a:latin typeface="Calibri"/>
              </a:rPr>
              <a:t>Every step opens the right Settings screen</a:t>
            </a:r>
          </a:p>
          <a:p>
            <a:pPr marL="177800" indent="-177800" algn="l">
              <a:spcAft>
                <a:spcPts val="800"/>
              </a:spcAft>
              <a:buChar char="•"/>
            </a:pPr>
            <a:r>
              <a:rPr sz="1400" b="0" i="0">
                <a:solidFill>
                  <a:srgbClr val="63637E"/>
                </a:solidFill>
                <a:latin typeface="Calibri"/>
              </a:rPr>
              <a:t>Destructive steps like a factory reset always come last</a:t>
            </a:r>
          </a:p>
        </p:txBody>
      </p:sp>
      <p:sp>
        <p:nvSpPr>
          <p:cNvPr id="15" name="Rounded Rectangle 14"/>
          <p:cNvSpPr/>
          <p:nvPr/>
        </p:nvSpPr>
        <p:spPr>
          <a:xfrm>
            <a:off x="4311396" y="3336608"/>
            <a:ext cx="3566160" cy="2377440"/>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39996" y="3519488"/>
            <a:ext cx="3108960" cy="320040"/>
          </a:xfrm>
          <a:prstGeom prst="rect">
            <a:avLst/>
          </a:prstGeom>
          <a:noFill/>
        </p:spPr>
        <p:txBody>
          <a:bodyPr wrap="square" lIns="0" tIns="0" rIns="0" bIns="0" anchor="t">
            <a:spAutoFit/>
          </a:bodyPr>
          <a:lstStyle/>
          <a:p>
            <a:pPr marL="0" indent="0" algn="l">
              <a:spcAft>
                <a:spcPts val="600"/>
              </a:spcAft>
              <a:buNone/>
            </a:pPr>
            <a:r>
              <a:rPr sz="1600" b="1" i="0">
                <a:solidFill>
                  <a:srgbClr val="14142B"/>
                </a:solidFill>
                <a:latin typeface="Arial"/>
              </a:rPr>
              <a:t>For Samsung support</a:t>
            </a:r>
          </a:p>
        </p:txBody>
      </p:sp>
      <p:sp>
        <p:nvSpPr>
          <p:cNvPr id="17" name="TextBox 16"/>
          <p:cNvSpPr txBox="1"/>
          <p:nvPr/>
        </p:nvSpPr>
        <p:spPr>
          <a:xfrm>
            <a:off x="4539996" y="3976688"/>
            <a:ext cx="3108960" cy="2148840"/>
          </a:xfrm>
          <a:prstGeom prst="rect">
            <a:avLst/>
          </a:prstGeom>
          <a:noFill/>
        </p:spPr>
        <p:txBody>
          <a:bodyPr wrap="square" lIns="0" tIns="0" rIns="0" bIns="0" anchor="t">
            <a:spAutoFit/>
          </a:bodyPr>
          <a:lstStyle/>
          <a:p>
            <a:pPr marL="177800" indent="-177800" algn="l">
              <a:spcAft>
                <a:spcPts val="800"/>
              </a:spcAft>
              <a:buChar char="•"/>
            </a:pPr>
            <a:r>
              <a:rPr sz="1400" b="0" i="0">
                <a:solidFill>
                  <a:srgbClr val="63637E"/>
                </a:solidFill>
                <a:latin typeface="Calibri"/>
              </a:rPr>
              <a:t>Removes the ~15 min an agent spends per complaint</a:t>
            </a:r>
          </a:p>
          <a:p>
            <a:pPr marL="177800" indent="-177800" algn="l">
              <a:spcAft>
                <a:spcPts val="800"/>
              </a:spcAft>
              <a:buChar char="•"/>
            </a:pPr>
            <a:r>
              <a:rPr sz="1400" b="0" i="0">
                <a:solidFill>
                  <a:srgbClr val="63637E"/>
                </a:solidFill>
                <a:latin typeface="Calibri"/>
              </a:rPr>
              <a:t>Data-driven (catalog + reference articles), so it scales to 10k+ scenarios</a:t>
            </a:r>
          </a:p>
          <a:p>
            <a:pPr marL="177800" indent="-177800" algn="l">
              <a:spcAft>
                <a:spcPts val="800"/>
              </a:spcAft>
              <a:buChar char="•"/>
            </a:pPr>
            <a:r>
              <a:rPr sz="1400" b="0" i="0">
                <a:solidFill>
                  <a:srgbClr val="63637E"/>
                </a:solidFill>
                <a:latin typeface="Calibri"/>
              </a:rPr>
              <a:t>Cost tracked per query; repeats cost nothing</a:t>
            </a:r>
          </a:p>
        </p:txBody>
      </p:sp>
      <p:sp>
        <p:nvSpPr>
          <p:cNvPr id="18" name="Rounded Rectangle 17"/>
          <p:cNvSpPr/>
          <p:nvPr/>
        </p:nvSpPr>
        <p:spPr>
          <a:xfrm>
            <a:off x="8074152" y="3336608"/>
            <a:ext cx="3566160" cy="2377440"/>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02752" y="3519488"/>
            <a:ext cx="3108960" cy="320040"/>
          </a:xfrm>
          <a:prstGeom prst="rect">
            <a:avLst/>
          </a:prstGeom>
          <a:noFill/>
        </p:spPr>
        <p:txBody>
          <a:bodyPr wrap="square" lIns="0" tIns="0" rIns="0" bIns="0" anchor="t">
            <a:spAutoFit/>
          </a:bodyPr>
          <a:lstStyle/>
          <a:p>
            <a:pPr marL="0" indent="0" algn="l">
              <a:spcAft>
                <a:spcPts val="600"/>
              </a:spcAft>
              <a:buNone/>
            </a:pPr>
            <a:r>
              <a:rPr sz="1600" b="1" i="0">
                <a:solidFill>
                  <a:srgbClr val="14142B"/>
                </a:solidFill>
                <a:latin typeface="Arial"/>
              </a:rPr>
              <a:t>Where it plugs in</a:t>
            </a:r>
          </a:p>
        </p:txBody>
      </p:sp>
      <p:sp>
        <p:nvSpPr>
          <p:cNvPr id="20" name="TextBox 19"/>
          <p:cNvSpPr txBox="1"/>
          <p:nvPr/>
        </p:nvSpPr>
        <p:spPr>
          <a:xfrm>
            <a:off x="8302752" y="3976688"/>
            <a:ext cx="3108960" cy="2148840"/>
          </a:xfrm>
          <a:prstGeom prst="rect">
            <a:avLst/>
          </a:prstGeom>
          <a:noFill/>
        </p:spPr>
        <p:txBody>
          <a:bodyPr wrap="square" lIns="0" tIns="0" rIns="0" bIns="0" anchor="t">
            <a:spAutoFit/>
          </a:bodyPr>
          <a:lstStyle/>
          <a:p>
            <a:pPr marL="177800" indent="-177800" algn="l">
              <a:spcAft>
                <a:spcPts val="800"/>
              </a:spcAft>
              <a:buChar char="•"/>
            </a:pPr>
            <a:r>
              <a:rPr sz="1400" b="0" i="0">
                <a:solidFill>
                  <a:srgbClr val="63637E"/>
                </a:solidFill>
                <a:latin typeface="Calibri"/>
              </a:rPr>
              <a:t>Samsung Members / Bixby “fix my phone”</a:t>
            </a:r>
          </a:p>
          <a:p>
            <a:pPr marL="177800" indent="-177800" algn="l">
              <a:spcAft>
                <a:spcPts val="800"/>
              </a:spcAft>
              <a:buChar char="•"/>
            </a:pPr>
            <a:r>
              <a:rPr sz="1400" b="0" i="0">
                <a:solidFill>
                  <a:srgbClr val="63637E"/>
                </a:solidFill>
                <a:latin typeface="Calibri"/>
              </a:rPr>
              <a:t>Call-centre agent assist</a:t>
            </a:r>
          </a:p>
          <a:p>
            <a:pPr marL="177800" indent="-177800" algn="l">
              <a:spcAft>
                <a:spcPts val="800"/>
              </a:spcAft>
              <a:buChar char="•"/>
            </a:pPr>
            <a:r>
              <a:rPr sz="1400" b="0" i="0">
                <a:solidFill>
                  <a:srgbClr val="63637E"/>
                </a:solidFill>
                <a:latin typeface="Calibri"/>
              </a:rPr>
              <a:t>Search inside Settings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TextBox 2"/>
          <p:cNvSpPr txBox="1"/>
          <p:nvPr/>
        </p:nvSpPr>
        <p:spPr>
          <a:xfrm>
            <a:off x="548640" y="1827848"/>
            <a:ext cx="3474720" cy="320040"/>
          </a:xfrm>
          <a:prstGeom prst="rect">
            <a:avLst/>
          </a:prstGeom>
          <a:noFill/>
        </p:spPr>
        <p:txBody>
          <a:bodyPr wrap="square" lIns="0" tIns="0" rIns="0" bIns="0" anchor="t">
            <a:spAutoFit/>
          </a:bodyPr>
          <a:lstStyle/>
          <a:p>
            <a:pPr marL="0" indent="0" algn="l">
              <a:spcAft>
                <a:spcPts val="600"/>
              </a:spcAft>
              <a:buNone/>
            </a:pPr>
            <a:r>
              <a:rPr sz="1600" b="1" i="0">
                <a:solidFill>
                  <a:srgbClr val="6D28D9"/>
                </a:solidFill>
                <a:latin typeface="Arial"/>
              </a:rPr>
              <a:t>Innovation highlights</a:t>
            </a:r>
          </a:p>
        </p:txBody>
      </p:sp>
      <p:sp>
        <p:nvSpPr>
          <p:cNvPr id="4" name="TextBox 3"/>
          <p:cNvSpPr txBox="1"/>
          <p:nvPr/>
        </p:nvSpPr>
        <p:spPr>
          <a:xfrm>
            <a:off x="548640" y="2239328"/>
            <a:ext cx="3474720" cy="4480560"/>
          </a:xfrm>
          <a:prstGeom prst="rect">
            <a:avLst/>
          </a:prstGeom>
          <a:noFill/>
        </p:spPr>
        <p:txBody>
          <a:bodyPr wrap="square" lIns="0" tIns="0" rIns="0" bIns="0" anchor="t">
            <a:spAutoFit/>
          </a:bodyPr>
          <a:lstStyle/>
          <a:p>
            <a:pPr marL="177800" indent="-177800" algn="l">
              <a:spcAft>
                <a:spcPts val="900"/>
              </a:spcAft>
              <a:buChar char="•"/>
            </a:pPr>
            <a:r>
              <a:rPr sz="1400" b="1" i="0">
                <a:solidFill>
                  <a:srgbClr val="14142B"/>
                </a:solidFill>
                <a:latin typeface="Calibri"/>
              </a:rPr>
              <a:t>Guarded semantic cache: </a:t>
            </a:r>
            <a:r>
              <a:rPr sz="1400" b="0" i="0">
                <a:solidFill>
                  <a:srgbClr val="63637E"/>
                </a:solidFill>
                <a:latin typeface="Calibri"/>
              </a:rPr>
              <a:t>facet and domain guards plus the spec’s own paraphrases as keys; 64.3% → 80.4% held-out hits, 0 wrong</a:t>
            </a:r>
          </a:p>
          <a:p>
            <a:pPr marL="177800" indent="-177800" algn="l">
              <a:spcAft>
                <a:spcPts val="900"/>
              </a:spcAft>
              <a:buChar char="•"/>
            </a:pPr>
            <a:r>
              <a:rPr sz="1400" b="1" i="0">
                <a:solidFill>
                  <a:srgbClr val="14142B"/>
                </a:solidFill>
                <a:latin typeface="Calibri"/>
              </a:rPr>
              <a:t>Toggle-polarity check: </a:t>
            </a:r>
            <a:r>
              <a:rPr sz="1400" b="0" i="0">
                <a:solidFill>
                  <a:srgbClr val="63637E"/>
                </a:solidFill>
                <a:latin typeface="Calibri"/>
              </a:rPr>
              <a:t>catches a catalog link that does the opposite of the step (Enable → Disable)</a:t>
            </a:r>
          </a:p>
          <a:p>
            <a:pPr marL="177800" indent="-177800" algn="l">
              <a:spcAft>
                <a:spcPts val="900"/>
              </a:spcAft>
              <a:buChar char="•"/>
            </a:pPr>
            <a:r>
              <a:rPr sz="1400" b="1" i="0">
                <a:solidFill>
                  <a:srgbClr val="14142B"/>
                </a:solidFill>
                <a:latin typeface="Calibri"/>
              </a:rPr>
              <a:t>Catalog-only Configuration plans </a:t>
            </a:r>
            <a:r>
              <a:rPr sz="1400" b="0" i="0">
                <a:solidFill>
                  <a:srgbClr val="63637E"/>
                </a:solidFill>
                <a:latin typeface="Calibri"/>
              </a:rPr>
              <a:t>for settings requests</a:t>
            </a:r>
          </a:p>
          <a:p>
            <a:pPr marL="177800" indent="-177800" algn="l">
              <a:spcAft>
                <a:spcPts val="900"/>
              </a:spcAft>
              <a:buChar char="•"/>
            </a:pPr>
            <a:r>
              <a:rPr sz="1400" b="1" i="0">
                <a:solidFill>
                  <a:srgbClr val="14142B"/>
                </a:solidFill>
                <a:latin typeface="Calibri"/>
              </a:rPr>
              <a:t>Graceful degradation: </a:t>
            </a:r>
            <a:r>
              <a:rPr sz="1400" b="0" i="0">
                <a:solidFill>
                  <a:srgbClr val="63637E"/>
                </a:solidFill>
                <a:latin typeface="Calibri"/>
              </a:rPr>
              <a:t>a valid plan or a controlled refusal under 8 s, LLM fast, busy or missing</a:t>
            </a:r>
          </a:p>
          <a:p>
            <a:pPr marL="177800" indent="-177800" algn="l">
              <a:spcAft>
                <a:spcPts val="900"/>
              </a:spcAft>
              <a:buChar char="•"/>
            </a:pPr>
            <a:r>
              <a:rPr sz="1400" b="1" i="0">
                <a:solidFill>
                  <a:srgbClr val="14142B"/>
                </a:solidFill>
                <a:latin typeface="Calibri"/>
              </a:rPr>
              <a:t>Observable: </a:t>
            </a:r>
            <a:r>
              <a:rPr sz="1400" b="0" i="0">
                <a:solidFill>
                  <a:srgbClr val="63637E"/>
                </a:solidFill>
                <a:latin typeface="Calibri"/>
              </a:rPr>
              <a:t>every answer explains how it was produced</a:t>
            </a:r>
          </a:p>
        </p:txBody>
      </p:sp>
      <p:sp>
        <p:nvSpPr>
          <p:cNvPr id="5" name="TextBox 4"/>
          <p:cNvSpPr txBox="1"/>
          <p:nvPr/>
        </p:nvSpPr>
        <p:spPr>
          <a:xfrm>
            <a:off x="4251960" y="1827848"/>
            <a:ext cx="4206240" cy="320040"/>
          </a:xfrm>
          <a:prstGeom prst="rect">
            <a:avLst/>
          </a:prstGeom>
          <a:noFill/>
        </p:spPr>
        <p:txBody>
          <a:bodyPr wrap="square" lIns="0" tIns="0" rIns="0" bIns="0" anchor="t">
            <a:spAutoFit/>
          </a:bodyPr>
          <a:lstStyle/>
          <a:p>
            <a:pPr marL="0" indent="0" algn="l">
              <a:spcAft>
                <a:spcPts val="600"/>
              </a:spcAft>
              <a:buNone/>
            </a:pPr>
            <a:r>
              <a:rPr sz="1600" b="1" i="0">
                <a:solidFill>
                  <a:srgbClr val="6D28D9"/>
                </a:solidFill>
                <a:latin typeface="Arial"/>
              </a:rPr>
              <a:t>Results (measured)</a:t>
            </a:r>
          </a:p>
        </p:txBody>
      </p:sp>
      <p:graphicFrame>
        <p:nvGraphicFramePr>
          <p:cNvPr id="6" name="Table 5"/>
          <p:cNvGraphicFramePr>
            <a:graphicFrameLocks noGrp="1"/>
          </p:cNvGraphicFramePr>
          <p:nvPr/>
        </p:nvGraphicFramePr>
        <p:xfrm>
          <a:off x="4251960" y="2239328"/>
          <a:ext cx="4206239" cy="3867912"/>
        </p:xfrm>
        <a:graphic>
          <a:graphicData uri="http://schemas.openxmlformats.org/drawingml/2006/table">
            <a:tbl>
              <a:tblPr firstRow="1">
                <a:tableStyleId>{5C22544A-7EE6-4342-B048-85BDC9FD1C3A}</a:tableStyleId>
              </a:tblPr>
              <a:tblGrid>
                <a:gridCol w="1874519">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tblGrid>
              <a:tr h="429768">
                <a:tc>
                  <a:txBody>
                    <a:bodyPr/>
                    <a:lstStyle/>
                    <a:p>
                      <a:r>
                        <a:rPr sz="1150" b="1">
                          <a:solidFill>
                            <a:srgbClr val="FFFFFF"/>
                          </a:solidFill>
                          <a:latin typeface="Calibri"/>
                        </a:rPr>
                        <a:t>Metric</a:t>
                      </a:r>
                    </a:p>
                  </a:txBody>
                  <a:tcPr marL="73152" marR="73152" marT="36576" marB="36576" anchor="ctr">
                    <a:solidFill>
                      <a:srgbClr val="6D28D9"/>
                    </a:solidFill>
                  </a:tcPr>
                </a:tc>
                <a:tc>
                  <a:txBody>
                    <a:bodyPr/>
                    <a:lstStyle/>
                    <a:p>
                      <a:r>
                        <a:rPr sz="1150" b="1">
                          <a:solidFill>
                            <a:srgbClr val="FFFFFF"/>
                          </a:solidFill>
                          <a:latin typeface="Calibri"/>
                        </a:rPr>
                        <a:t>Result</a:t>
                      </a:r>
                    </a:p>
                  </a:txBody>
                  <a:tcPr marL="73152" marR="73152" marT="36576" marB="36576" anchor="ctr">
                    <a:solidFill>
                      <a:srgbClr val="6D28D9"/>
                    </a:solidFill>
                  </a:tcPr>
                </a:tc>
                <a:tc>
                  <a:txBody>
                    <a:bodyPr/>
                    <a:lstStyle/>
                    <a:p>
                      <a:r>
                        <a:rPr sz="1150" b="1">
                          <a:solidFill>
                            <a:srgbClr val="FFFFFF"/>
                          </a:solidFill>
                          <a:latin typeface="Calibri"/>
                        </a:rPr>
                        <a:t>Target</a:t>
                      </a:r>
                    </a:p>
                  </a:txBody>
                  <a:tcPr marL="73152" marR="73152" marT="36576" marB="36576" anchor="ctr">
                    <a:solidFill>
                      <a:srgbClr val="6D28D9"/>
                    </a:solidFill>
                  </a:tcPr>
                </a:tc>
                <a:extLst>
                  <a:ext uri="{0D108BD9-81ED-4DB2-BD59-A6C34878D82A}">
                    <a16:rowId xmlns:a16="http://schemas.microsoft.com/office/drawing/2014/main" val="10000"/>
                  </a:ext>
                </a:extLst>
              </a:tr>
              <a:tr h="429768">
                <a:tc>
                  <a:txBody>
                    <a:bodyPr/>
                    <a:lstStyle/>
                    <a:p>
                      <a:r>
                        <a:rPr sz="1150" b="0">
                          <a:solidFill>
                            <a:srgbClr val="14142B"/>
                          </a:solidFill>
                          <a:latin typeface="Calibri"/>
                        </a:rPr>
                        <a:t>Official queries on contract</a:t>
                      </a:r>
                    </a:p>
                  </a:txBody>
                  <a:tcPr marL="73152" marR="73152" marT="36576" marB="36576" anchor="ctr">
                    <a:solidFill>
                      <a:srgbClr val="FFFFFF"/>
                    </a:solidFill>
                  </a:tcPr>
                </a:tc>
                <a:tc>
                  <a:txBody>
                    <a:bodyPr/>
                    <a:lstStyle/>
                    <a:p>
                      <a:r>
                        <a:rPr sz="1150" b="0">
                          <a:solidFill>
                            <a:srgbClr val="14142B"/>
                          </a:solidFill>
                          <a:latin typeface="Calibri"/>
                        </a:rPr>
                        <a:t>20/20, 0 repairs</a:t>
                      </a:r>
                    </a:p>
                  </a:txBody>
                  <a:tcPr marL="73152" marR="73152" marT="36576" marB="36576" anchor="ctr">
                    <a:solidFill>
                      <a:srgbClr val="FFFFFF"/>
                    </a:solidFill>
                  </a:tcPr>
                </a:tc>
                <a:tc>
                  <a:txBody>
                    <a:bodyPr/>
                    <a:lstStyle/>
                    <a:p>
                      <a:r>
                        <a:rPr sz="1150" b="0">
                          <a:solidFill>
                            <a:srgbClr val="14142B"/>
                          </a:solidFill>
                          <a:latin typeface="Calibri"/>
                        </a:rPr>
                        <a:t>—</a:t>
                      </a:r>
                    </a:p>
                  </a:txBody>
                  <a:tcPr marL="73152" marR="73152" marT="36576" marB="36576" anchor="ctr">
                    <a:solidFill>
                      <a:srgbClr val="FFFFFF"/>
                    </a:solidFill>
                  </a:tcPr>
                </a:tc>
                <a:extLst>
                  <a:ext uri="{0D108BD9-81ED-4DB2-BD59-A6C34878D82A}">
                    <a16:rowId xmlns:a16="http://schemas.microsoft.com/office/drawing/2014/main" val="10001"/>
                  </a:ext>
                </a:extLst>
              </a:tr>
              <a:tr h="429768">
                <a:tc>
                  <a:txBody>
                    <a:bodyPr/>
                    <a:lstStyle/>
                    <a:p>
                      <a:r>
                        <a:rPr sz="1150" b="0">
                          <a:solidFill>
                            <a:srgbClr val="14142B"/>
                          </a:solidFill>
                          <a:latin typeface="Calibri"/>
                        </a:rPr>
                        <a:t>Paraphrase cache hits</a:t>
                      </a:r>
                    </a:p>
                  </a:txBody>
                  <a:tcPr marL="73152" marR="73152" marT="36576" marB="36576" anchor="ctr">
                    <a:solidFill>
                      <a:srgbClr val="F4F1FD"/>
                    </a:solidFill>
                  </a:tcPr>
                </a:tc>
                <a:tc>
                  <a:txBody>
                    <a:bodyPr/>
                    <a:lstStyle/>
                    <a:p>
                      <a:r>
                        <a:rPr sz="1150" b="0">
                          <a:solidFill>
                            <a:srgbClr val="14142B"/>
                          </a:solidFill>
                          <a:latin typeface="Calibri"/>
                        </a:rPr>
                        <a:t>80.4%, 0 wrong</a:t>
                      </a:r>
                    </a:p>
                  </a:txBody>
                  <a:tcPr marL="73152" marR="73152" marT="36576" marB="36576" anchor="ctr">
                    <a:solidFill>
                      <a:srgbClr val="F4F1FD"/>
                    </a:solidFill>
                  </a:tcPr>
                </a:tc>
                <a:tc>
                  <a:txBody>
                    <a:bodyPr/>
                    <a:lstStyle/>
                    <a:p>
                      <a:r>
                        <a:rPr sz="1150" b="0">
                          <a:solidFill>
                            <a:srgbClr val="14142B"/>
                          </a:solidFill>
                          <a:latin typeface="Calibri"/>
                        </a:rPr>
                        <a:t>≥ 80%</a:t>
                      </a:r>
                    </a:p>
                  </a:txBody>
                  <a:tcPr marL="73152" marR="73152" marT="36576" marB="36576" anchor="ctr">
                    <a:solidFill>
                      <a:srgbClr val="F4F1FD"/>
                    </a:solidFill>
                  </a:tcPr>
                </a:tc>
                <a:extLst>
                  <a:ext uri="{0D108BD9-81ED-4DB2-BD59-A6C34878D82A}">
                    <a16:rowId xmlns:a16="http://schemas.microsoft.com/office/drawing/2014/main" val="10002"/>
                  </a:ext>
                </a:extLst>
              </a:tr>
              <a:tr h="429768">
                <a:tc>
                  <a:txBody>
                    <a:bodyPr/>
                    <a:lstStyle/>
                    <a:p>
                      <a:r>
                        <a:rPr sz="1150" b="0">
                          <a:solidFill>
                            <a:srgbClr val="14142B"/>
                          </a:solidFill>
                          <a:latin typeface="Calibri"/>
                        </a:rPr>
                        <a:t>Cache hit P95, 16 users</a:t>
                      </a:r>
                    </a:p>
                  </a:txBody>
                  <a:tcPr marL="73152" marR="73152" marT="36576" marB="36576" anchor="ctr">
                    <a:solidFill>
                      <a:srgbClr val="FFFFFF"/>
                    </a:solidFill>
                  </a:tcPr>
                </a:tc>
                <a:tc>
                  <a:txBody>
                    <a:bodyPr/>
                    <a:lstStyle/>
                    <a:p>
                      <a:r>
                        <a:rPr sz="1150" b="0">
                          <a:solidFill>
                            <a:srgbClr val="14142B"/>
                          </a:solidFill>
                          <a:latin typeface="Calibri"/>
                        </a:rPr>
                        <a:t>81 ms</a:t>
                      </a:r>
                    </a:p>
                  </a:txBody>
                  <a:tcPr marL="73152" marR="73152" marT="36576" marB="36576" anchor="ctr">
                    <a:solidFill>
                      <a:srgbClr val="FFFFFF"/>
                    </a:solidFill>
                  </a:tcPr>
                </a:tc>
                <a:tc>
                  <a:txBody>
                    <a:bodyPr/>
                    <a:lstStyle/>
                    <a:p>
                      <a:r>
                        <a:rPr sz="1150" b="0">
                          <a:solidFill>
                            <a:srgbClr val="14142B"/>
                          </a:solidFill>
                          <a:latin typeface="Calibri"/>
                        </a:rPr>
                        <a:t>≤ 300 ms</a:t>
                      </a:r>
                    </a:p>
                  </a:txBody>
                  <a:tcPr marL="73152" marR="73152" marT="36576" marB="36576" anchor="ctr">
                    <a:solidFill>
                      <a:srgbClr val="FFFFFF"/>
                    </a:solidFill>
                  </a:tcPr>
                </a:tc>
                <a:extLst>
                  <a:ext uri="{0D108BD9-81ED-4DB2-BD59-A6C34878D82A}">
                    <a16:rowId xmlns:a16="http://schemas.microsoft.com/office/drawing/2014/main" val="10003"/>
                  </a:ext>
                </a:extLst>
              </a:tr>
              <a:tr h="429768">
                <a:tc>
                  <a:txBody>
                    <a:bodyPr/>
                    <a:lstStyle/>
                    <a:p>
                      <a:r>
                        <a:rPr sz="1150" b="0">
                          <a:solidFill>
                            <a:srgbClr val="14142B"/>
                          </a:solidFill>
                          <a:latin typeface="Calibri"/>
                        </a:rPr>
                        <a:t>Cold P95, live free LLM</a:t>
                      </a:r>
                    </a:p>
                  </a:txBody>
                  <a:tcPr marL="73152" marR="73152" marT="36576" marB="36576" anchor="ctr">
                    <a:solidFill>
                      <a:srgbClr val="F4F1FD"/>
                    </a:solidFill>
                  </a:tcPr>
                </a:tc>
                <a:tc>
                  <a:txBody>
                    <a:bodyPr/>
                    <a:lstStyle/>
                    <a:p>
                      <a:r>
                        <a:rPr sz="1150" b="0">
                          <a:solidFill>
                            <a:srgbClr val="14142B"/>
                          </a:solidFill>
                          <a:latin typeface="Calibri"/>
                        </a:rPr>
                        <a:t>6.5 s</a:t>
                      </a:r>
                    </a:p>
                  </a:txBody>
                  <a:tcPr marL="73152" marR="73152" marT="36576" marB="36576" anchor="ctr">
                    <a:solidFill>
                      <a:srgbClr val="F4F1FD"/>
                    </a:solidFill>
                  </a:tcPr>
                </a:tc>
                <a:tc>
                  <a:txBody>
                    <a:bodyPr/>
                    <a:lstStyle/>
                    <a:p>
                      <a:r>
                        <a:rPr sz="1150" b="0">
                          <a:solidFill>
                            <a:srgbClr val="14142B"/>
                          </a:solidFill>
                          <a:latin typeface="Calibri"/>
                        </a:rPr>
                        <a:t>≤ 8 s</a:t>
                      </a:r>
                    </a:p>
                  </a:txBody>
                  <a:tcPr marL="73152" marR="73152" marT="36576" marB="36576" anchor="ctr">
                    <a:solidFill>
                      <a:srgbClr val="F4F1FD"/>
                    </a:solidFill>
                  </a:tcPr>
                </a:tc>
                <a:extLst>
                  <a:ext uri="{0D108BD9-81ED-4DB2-BD59-A6C34878D82A}">
                    <a16:rowId xmlns:a16="http://schemas.microsoft.com/office/drawing/2014/main" val="10004"/>
                  </a:ext>
                </a:extLst>
              </a:tr>
              <a:tr h="429768">
                <a:tc>
                  <a:txBody>
                    <a:bodyPr/>
                    <a:lstStyle/>
                    <a:p>
                      <a:r>
                        <a:rPr sz="1150" b="0">
                          <a:solidFill>
                            <a:srgbClr val="14142B"/>
                          </a:solidFill>
                          <a:latin typeface="Calibri"/>
                        </a:rPr>
                        <a:t>URL leaks / non-catalog links</a:t>
                      </a:r>
                    </a:p>
                  </a:txBody>
                  <a:tcPr marL="73152" marR="73152" marT="36576" marB="36576" anchor="ctr">
                    <a:solidFill>
                      <a:srgbClr val="FFFFFF"/>
                    </a:solidFill>
                  </a:tcPr>
                </a:tc>
                <a:tc>
                  <a:txBody>
                    <a:bodyPr/>
                    <a:lstStyle/>
                    <a:p>
                      <a:r>
                        <a:rPr sz="1150" b="0">
                          <a:solidFill>
                            <a:srgbClr val="14142B"/>
                          </a:solidFill>
                          <a:latin typeface="Calibri"/>
                        </a:rPr>
                        <a:t>0 / 0</a:t>
                      </a:r>
                    </a:p>
                  </a:txBody>
                  <a:tcPr marL="73152" marR="73152" marT="36576" marB="36576" anchor="ctr">
                    <a:solidFill>
                      <a:srgbClr val="FFFFFF"/>
                    </a:solidFill>
                  </a:tcPr>
                </a:tc>
                <a:tc>
                  <a:txBody>
                    <a:bodyPr/>
                    <a:lstStyle/>
                    <a:p>
                      <a:r>
                        <a:rPr sz="1150" b="0">
                          <a:solidFill>
                            <a:srgbClr val="14142B"/>
                          </a:solidFill>
                          <a:latin typeface="Calibri"/>
                        </a:rPr>
                        <a:t>0</a:t>
                      </a:r>
                    </a:p>
                  </a:txBody>
                  <a:tcPr marL="73152" marR="73152" marT="36576" marB="36576" anchor="ctr">
                    <a:solidFill>
                      <a:srgbClr val="FFFFFF"/>
                    </a:solidFill>
                  </a:tcPr>
                </a:tc>
                <a:extLst>
                  <a:ext uri="{0D108BD9-81ED-4DB2-BD59-A6C34878D82A}">
                    <a16:rowId xmlns:a16="http://schemas.microsoft.com/office/drawing/2014/main" val="10005"/>
                  </a:ext>
                </a:extLst>
              </a:tr>
              <a:tr h="429768">
                <a:tc>
                  <a:txBody>
                    <a:bodyPr/>
                    <a:lstStyle/>
                    <a:p>
                      <a:r>
                        <a:rPr sz="1150" b="0">
                          <a:solidFill>
                            <a:srgbClr val="14142B"/>
                          </a:solidFill>
                          <a:latin typeface="Calibri"/>
                        </a:rPr>
                        <a:t>Off-topic refused</a:t>
                      </a:r>
                    </a:p>
                  </a:txBody>
                  <a:tcPr marL="73152" marR="73152" marT="36576" marB="36576" anchor="ctr">
                    <a:solidFill>
                      <a:srgbClr val="F4F1FD"/>
                    </a:solidFill>
                  </a:tcPr>
                </a:tc>
                <a:tc>
                  <a:txBody>
                    <a:bodyPr/>
                    <a:lstStyle/>
                    <a:p>
                      <a:r>
                        <a:rPr sz="1150" b="0">
                          <a:solidFill>
                            <a:srgbClr val="14142B"/>
                          </a:solidFill>
                          <a:latin typeface="Calibri"/>
                        </a:rPr>
                        <a:t>15/15 LLM, 29/30 offline</a:t>
                      </a:r>
                    </a:p>
                  </a:txBody>
                  <a:tcPr marL="73152" marR="73152" marT="36576" marB="36576" anchor="ctr">
                    <a:solidFill>
                      <a:srgbClr val="F4F1FD"/>
                    </a:solidFill>
                  </a:tcPr>
                </a:tc>
                <a:tc>
                  <a:txBody>
                    <a:bodyPr/>
                    <a:lstStyle/>
                    <a:p>
                      <a:r>
                        <a:rPr sz="1150" b="0">
                          <a:solidFill>
                            <a:srgbClr val="14142B"/>
                          </a:solidFill>
                          <a:latin typeface="Calibri"/>
                        </a:rPr>
                        <a:t>—</a:t>
                      </a:r>
                    </a:p>
                  </a:txBody>
                  <a:tcPr marL="73152" marR="73152" marT="36576" marB="36576" anchor="ctr">
                    <a:solidFill>
                      <a:srgbClr val="F4F1FD"/>
                    </a:solidFill>
                  </a:tcPr>
                </a:tc>
                <a:extLst>
                  <a:ext uri="{0D108BD9-81ED-4DB2-BD59-A6C34878D82A}">
                    <a16:rowId xmlns:a16="http://schemas.microsoft.com/office/drawing/2014/main" val="10006"/>
                  </a:ext>
                </a:extLst>
              </a:tr>
              <a:tr h="429768">
                <a:tc>
                  <a:txBody>
                    <a:bodyPr/>
                    <a:lstStyle/>
                    <a:p>
                      <a:r>
                        <a:rPr sz="1150" b="0">
                          <a:solidFill>
                            <a:srgbClr val="14142B"/>
                          </a:solidFill>
                          <a:latin typeface="Calibri"/>
                        </a:rPr>
                        <a:t>Throughput, warm</a:t>
                      </a:r>
                    </a:p>
                  </a:txBody>
                  <a:tcPr marL="73152" marR="73152" marT="36576" marB="36576" anchor="ctr">
                    <a:solidFill>
                      <a:srgbClr val="FFFFFF"/>
                    </a:solidFill>
                  </a:tcPr>
                </a:tc>
                <a:tc>
                  <a:txBody>
                    <a:bodyPr/>
                    <a:lstStyle/>
                    <a:p>
                      <a:r>
                        <a:rPr sz="1150" b="0">
                          <a:solidFill>
                            <a:srgbClr val="14142B"/>
                          </a:solidFill>
                          <a:latin typeface="Calibri"/>
                        </a:rPr>
                        <a:t>261 req/s, 0 errors</a:t>
                      </a:r>
                    </a:p>
                  </a:txBody>
                  <a:tcPr marL="73152" marR="73152" marT="36576" marB="36576" anchor="ctr">
                    <a:solidFill>
                      <a:srgbClr val="FFFFFF"/>
                    </a:solidFill>
                  </a:tcPr>
                </a:tc>
                <a:tc>
                  <a:txBody>
                    <a:bodyPr/>
                    <a:lstStyle/>
                    <a:p>
                      <a:r>
                        <a:rPr sz="1150" b="0">
                          <a:solidFill>
                            <a:srgbClr val="14142B"/>
                          </a:solidFill>
                          <a:latin typeface="Calibri"/>
                        </a:rPr>
                        <a:t>—</a:t>
                      </a:r>
                    </a:p>
                  </a:txBody>
                  <a:tcPr marL="73152" marR="73152" marT="36576" marB="36576" anchor="ctr">
                    <a:solidFill>
                      <a:srgbClr val="FFFFFF"/>
                    </a:solidFill>
                  </a:tcPr>
                </a:tc>
                <a:extLst>
                  <a:ext uri="{0D108BD9-81ED-4DB2-BD59-A6C34878D82A}">
                    <a16:rowId xmlns:a16="http://schemas.microsoft.com/office/drawing/2014/main" val="10007"/>
                  </a:ext>
                </a:extLst>
              </a:tr>
              <a:tr h="429768">
                <a:tc>
                  <a:txBody>
                    <a:bodyPr/>
                    <a:lstStyle/>
                    <a:p>
                      <a:r>
                        <a:rPr sz="1150" b="0">
                          <a:solidFill>
                            <a:srgbClr val="14142B"/>
                          </a:solidFill>
                          <a:latin typeface="Calibri"/>
                        </a:rPr>
                        <a:t>Automated tests</a:t>
                      </a:r>
                    </a:p>
                  </a:txBody>
                  <a:tcPr marL="73152" marR="73152" marT="36576" marB="36576" anchor="ctr">
                    <a:solidFill>
                      <a:srgbClr val="F4F1FD"/>
                    </a:solidFill>
                  </a:tcPr>
                </a:tc>
                <a:tc>
                  <a:txBody>
                    <a:bodyPr/>
                    <a:lstStyle/>
                    <a:p>
                      <a:r>
                        <a:rPr sz="1150" b="0">
                          <a:solidFill>
                            <a:srgbClr val="14142B"/>
                          </a:solidFill>
                          <a:latin typeface="Calibri"/>
                        </a:rPr>
                        <a:t>433 passing</a:t>
                      </a:r>
                    </a:p>
                  </a:txBody>
                  <a:tcPr marL="73152" marR="73152" marT="36576" marB="36576" anchor="ctr">
                    <a:solidFill>
                      <a:srgbClr val="F4F1FD"/>
                    </a:solidFill>
                  </a:tcPr>
                </a:tc>
                <a:tc>
                  <a:txBody>
                    <a:bodyPr/>
                    <a:lstStyle/>
                    <a:p>
                      <a:r>
                        <a:rPr sz="1150" b="0">
                          <a:solidFill>
                            <a:srgbClr val="14142B"/>
                          </a:solidFill>
                          <a:latin typeface="Calibri"/>
                        </a:rPr>
                        <a:t>—</a:t>
                      </a:r>
                    </a:p>
                  </a:txBody>
                  <a:tcPr marL="73152" marR="73152" marT="36576" marB="36576" anchor="ctr">
                    <a:solidFill>
                      <a:srgbClr val="F4F1FD"/>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8686800" y="1827848"/>
            <a:ext cx="2926080" cy="320040"/>
          </a:xfrm>
          <a:prstGeom prst="rect">
            <a:avLst/>
          </a:prstGeom>
          <a:noFill/>
        </p:spPr>
        <p:txBody>
          <a:bodyPr wrap="square" lIns="0" tIns="0" rIns="0" bIns="0" anchor="t">
            <a:spAutoFit/>
          </a:bodyPr>
          <a:lstStyle/>
          <a:p>
            <a:pPr marL="0" indent="0" algn="l">
              <a:spcAft>
                <a:spcPts val="600"/>
              </a:spcAft>
              <a:buNone/>
            </a:pPr>
            <a:r>
              <a:rPr sz="1600" b="1" i="0">
                <a:solidFill>
                  <a:srgbClr val="C2413A"/>
                </a:solidFill>
                <a:latin typeface="Arial"/>
              </a:rPr>
              <a:t>Limitations</a:t>
            </a:r>
          </a:p>
        </p:txBody>
      </p:sp>
      <p:sp>
        <p:nvSpPr>
          <p:cNvPr id="8" name="TextBox 7"/>
          <p:cNvSpPr txBox="1"/>
          <p:nvPr/>
        </p:nvSpPr>
        <p:spPr>
          <a:xfrm>
            <a:off x="8686800" y="2239328"/>
            <a:ext cx="2926080" cy="4480560"/>
          </a:xfrm>
          <a:prstGeom prst="rect">
            <a:avLst/>
          </a:prstGeom>
          <a:noFill/>
        </p:spPr>
        <p:txBody>
          <a:bodyPr wrap="square" lIns="0" tIns="0" rIns="0" bIns="0" anchor="t">
            <a:spAutoFit/>
          </a:bodyPr>
          <a:lstStyle/>
          <a:p>
            <a:pPr marL="177800" indent="-177800" algn="l">
              <a:spcAft>
                <a:spcPts val="900"/>
              </a:spcAft>
              <a:buChar char="•"/>
            </a:pPr>
            <a:r>
              <a:rPr sz="1350" b="0" i="0">
                <a:solidFill>
                  <a:srgbClr val="63637E"/>
                </a:solidFill>
                <a:latin typeface="Calibri"/>
              </a:rPr>
              <a:t>Offline mode can accept look-alikes (“my laptop battery drains fast”)</a:t>
            </a:r>
          </a:p>
          <a:p>
            <a:pPr marL="177800" indent="-177800" algn="l">
              <a:spcAft>
                <a:spcPts val="900"/>
              </a:spcAft>
              <a:buChar char="•"/>
            </a:pPr>
            <a:r>
              <a:rPr sz="1350" b="0" i="0">
                <a:solidFill>
                  <a:srgbClr val="63637E"/>
                </a:solidFill>
                <a:latin typeface="Calibri"/>
              </a:rPr>
              <a:t>Misspelt queries without topic words may get a generic plan, mostly offline; they never change the answer for the correct spelling</a:t>
            </a:r>
          </a:p>
          <a:p>
            <a:pPr marL="177800" indent="-177800" algn="l">
              <a:spcAft>
                <a:spcPts val="900"/>
              </a:spcAft>
              <a:buChar char="•"/>
            </a:pPr>
            <a:r>
              <a:rPr sz="1350" b="0" i="0">
                <a:solidFill>
                  <a:srgbClr val="63637E"/>
                </a:solidFill>
                <a:latin typeface="Calibri"/>
              </a:rPr>
              <a:t>8 of 19 unusual settings phrasings miss the settings planner</a:t>
            </a:r>
          </a:p>
          <a:p>
            <a:pPr marL="177800" indent="-177800" algn="l">
              <a:spcAft>
                <a:spcPts val="900"/>
              </a:spcAft>
              <a:buChar char="•"/>
            </a:pPr>
            <a:r>
              <a:rPr sz="1350" b="0" i="0">
                <a:solidFill>
                  <a:srgbClr val="63637E"/>
                </a:solidFill>
                <a:latin typeface="Calibri"/>
              </a:rPr>
              <a:t>5 of 20 reference articles cannot be parsed</a:t>
            </a:r>
          </a:p>
          <a:p>
            <a:pPr marL="177800" indent="-177800" algn="l">
              <a:spcAft>
                <a:spcPts val="900"/>
              </a:spcAft>
              <a:buChar char="•"/>
            </a:pPr>
            <a:r>
              <a:rPr sz="1350" b="0" i="0">
                <a:solidFill>
                  <a:srgbClr val="63637E"/>
                </a:solidFill>
                <a:latin typeface="Calibri"/>
              </a:rPr>
              <a:t>Free-tier LLM is slow (~5–6 s cold); cache is single-process</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Rounded Rectangle 2"/>
          <p:cNvSpPr/>
          <p:nvPr/>
        </p:nvSpPr>
        <p:spPr>
          <a:xfrm>
            <a:off x="548640" y="1827848"/>
            <a:ext cx="3566160" cy="2148840"/>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77240" y="2056448"/>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01</a:t>
            </a:r>
          </a:p>
        </p:txBody>
      </p:sp>
      <p:sp>
        <p:nvSpPr>
          <p:cNvPr id="5" name="TextBox 4"/>
          <p:cNvSpPr txBox="1"/>
          <p:nvPr/>
        </p:nvSpPr>
        <p:spPr>
          <a:xfrm>
            <a:off x="777240" y="2742248"/>
            <a:ext cx="3108960" cy="1143000"/>
          </a:xfrm>
          <a:prstGeom prst="rect">
            <a:avLst/>
          </a:prstGeom>
          <a:noFill/>
        </p:spPr>
        <p:txBody>
          <a:bodyPr wrap="square" lIns="0" tIns="0" rIns="0" bIns="0" anchor="t">
            <a:spAutoFit/>
          </a:bodyPr>
          <a:lstStyle/>
          <a:p>
            <a:pPr marL="0" indent="0" algn="l">
              <a:spcAft>
                <a:spcPts val="400"/>
              </a:spcAft>
              <a:buNone/>
            </a:pPr>
            <a:r>
              <a:rPr sz="1500" b="1" i="0">
                <a:solidFill>
                  <a:srgbClr val="14142B"/>
                </a:solidFill>
                <a:latin typeface="Arial"/>
              </a:rPr>
              <a:t>Closed loop</a:t>
            </a:r>
          </a:p>
          <a:p>
            <a:pPr marL="0" indent="0" algn="l">
              <a:spcAft>
                <a:spcPts val="400"/>
              </a:spcAft>
              <a:buNone/>
            </a:pPr>
            <a:r>
              <a:rPr sz="1300" b="0" i="0">
                <a:solidFill>
                  <a:srgbClr val="63637E"/>
                </a:solidFill>
                <a:latin typeface="Calibri"/>
              </a:rPr>
              <a:t>Read device state after a safe step via validation deeplinks; drop later destructive steps once the cause is confirmed</a:t>
            </a:r>
          </a:p>
        </p:txBody>
      </p:sp>
      <p:sp>
        <p:nvSpPr>
          <p:cNvPr id="6" name="Rounded Rectangle 5"/>
          <p:cNvSpPr/>
          <p:nvPr/>
        </p:nvSpPr>
        <p:spPr>
          <a:xfrm>
            <a:off x="4311396" y="1827848"/>
            <a:ext cx="3566160" cy="2148840"/>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4539996" y="2056448"/>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02</a:t>
            </a:r>
          </a:p>
        </p:txBody>
      </p:sp>
      <p:sp>
        <p:nvSpPr>
          <p:cNvPr id="8" name="TextBox 7"/>
          <p:cNvSpPr txBox="1"/>
          <p:nvPr/>
        </p:nvSpPr>
        <p:spPr>
          <a:xfrm>
            <a:off x="4539996" y="2742248"/>
            <a:ext cx="3108960" cy="1143000"/>
          </a:xfrm>
          <a:prstGeom prst="rect">
            <a:avLst/>
          </a:prstGeom>
          <a:noFill/>
        </p:spPr>
        <p:txBody>
          <a:bodyPr wrap="square" lIns="0" tIns="0" rIns="0" bIns="0" anchor="t">
            <a:spAutoFit/>
          </a:bodyPr>
          <a:lstStyle/>
          <a:p>
            <a:pPr marL="0" indent="0" algn="l">
              <a:spcAft>
                <a:spcPts val="400"/>
              </a:spcAft>
              <a:buNone/>
            </a:pPr>
            <a:r>
              <a:rPr sz="1500" b="1" i="0">
                <a:solidFill>
                  <a:srgbClr val="14142B"/>
                </a:solidFill>
                <a:latin typeface="Arial"/>
              </a:rPr>
              <a:t>Hardware vs software triage</a:t>
            </a:r>
          </a:p>
          <a:p>
            <a:pPr marL="0" indent="0" algn="l">
              <a:spcAft>
                <a:spcPts val="400"/>
              </a:spcAft>
              <a:buNone/>
            </a:pPr>
            <a:r>
              <a:rPr sz="1300" b="0" i="0">
                <a:solidFill>
                  <a:srgbClr val="63637E"/>
                </a:solidFill>
                <a:latin typeface="Calibri"/>
              </a:rPr>
              <a:t>A defect missing from a screenshot is a panel fault: route to service, not software steps</a:t>
            </a:r>
          </a:p>
        </p:txBody>
      </p:sp>
      <p:sp>
        <p:nvSpPr>
          <p:cNvPr id="9" name="Rounded Rectangle 8"/>
          <p:cNvSpPr/>
          <p:nvPr/>
        </p:nvSpPr>
        <p:spPr>
          <a:xfrm>
            <a:off x="8074152" y="1827848"/>
            <a:ext cx="3566160" cy="2148840"/>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302752" y="2056448"/>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03</a:t>
            </a:r>
          </a:p>
        </p:txBody>
      </p:sp>
      <p:sp>
        <p:nvSpPr>
          <p:cNvPr id="11" name="TextBox 10"/>
          <p:cNvSpPr txBox="1"/>
          <p:nvPr/>
        </p:nvSpPr>
        <p:spPr>
          <a:xfrm>
            <a:off x="8302752" y="2742248"/>
            <a:ext cx="3108960" cy="1143000"/>
          </a:xfrm>
          <a:prstGeom prst="rect">
            <a:avLst/>
          </a:prstGeom>
          <a:noFill/>
        </p:spPr>
        <p:txBody>
          <a:bodyPr wrap="square" lIns="0" tIns="0" rIns="0" bIns="0" anchor="t">
            <a:spAutoFit/>
          </a:bodyPr>
          <a:lstStyle/>
          <a:p>
            <a:pPr marL="0" indent="0" algn="l">
              <a:spcAft>
                <a:spcPts val="400"/>
              </a:spcAft>
              <a:buNone/>
            </a:pPr>
            <a:r>
              <a:rPr sz="1500" b="1" i="0">
                <a:solidFill>
                  <a:srgbClr val="14142B"/>
                </a:solidFill>
                <a:latin typeface="Arial"/>
              </a:rPr>
              <a:t>Shared cache</a:t>
            </a:r>
          </a:p>
          <a:p>
            <a:pPr marL="0" indent="0" algn="l">
              <a:spcAft>
                <a:spcPts val="400"/>
              </a:spcAft>
              <a:buNone/>
            </a:pPr>
            <a:r>
              <a:rPr sz="1300" b="0" i="0">
                <a:solidFill>
                  <a:srgbClr val="63637E"/>
                </a:solidFill>
                <a:latin typeface="Calibri"/>
              </a:rPr>
              <a:t>Redis for multi-worker deployment; per-category thresholds learned from real traffic</a:t>
            </a:r>
          </a:p>
        </p:txBody>
      </p:sp>
      <p:sp>
        <p:nvSpPr>
          <p:cNvPr id="12" name="Rounded Rectangle 11"/>
          <p:cNvSpPr/>
          <p:nvPr/>
        </p:nvSpPr>
        <p:spPr>
          <a:xfrm>
            <a:off x="548640" y="4205288"/>
            <a:ext cx="3566160" cy="2148840"/>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77240" y="4433888"/>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04</a:t>
            </a:r>
          </a:p>
        </p:txBody>
      </p:sp>
      <p:sp>
        <p:nvSpPr>
          <p:cNvPr id="14" name="TextBox 13"/>
          <p:cNvSpPr txBox="1"/>
          <p:nvPr/>
        </p:nvSpPr>
        <p:spPr>
          <a:xfrm>
            <a:off x="777240" y="5119688"/>
            <a:ext cx="3108960" cy="1143000"/>
          </a:xfrm>
          <a:prstGeom prst="rect">
            <a:avLst/>
          </a:prstGeom>
          <a:noFill/>
        </p:spPr>
        <p:txBody>
          <a:bodyPr wrap="square" lIns="0" tIns="0" rIns="0" bIns="0" anchor="t">
            <a:spAutoFit/>
          </a:bodyPr>
          <a:lstStyle/>
          <a:p>
            <a:pPr marL="0" indent="0" algn="l">
              <a:spcAft>
                <a:spcPts val="400"/>
              </a:spcAft>
              <a:buNone/>
            </a:pPr>
            <a:r>
              <a:rPr sz="1500" b="1" i="0">
                <a:solidFill>
                  <a:srgbClr val="14142B"/>
                </a:solidFill>
                <a:latin typeface="Arial"/>
              </a:rPr>
              <a:t>Wider settings coverage</a:t>
            </a:r>
          </a:p>
          <a:p>
            <a:pPr marL="0" indent="0" algn="l">
              <a:spcAft>
                <a:spcPts val="400"/>
              </a:spcAft>
              <a:buNone/>
            </a:pPr>
            <a:r>
              <a:rPr sz="1300" b="0" i="0">
                <a:solidFill>
                  <a:srgbClr val="63637E"/>
                </a:solidFill>
                <a:latin typeface="Calibri"/>
              </a:rPr>
              <a:t>Catalog QnA embeddings and user-phrased aliases for the settings requests we still miss</a:t>
            </a:r>
          </a:p>
        </p:txBody>
      </p:sp>
      <p:sp>
        <p:nvSpPr>
          <p:cNvPr id="15" name="Rounded Rectangle 14"/>
          <p:cNvSpPr/>
          <p:nvPr/>
        </p:nvSpPr>
        <p:spPr>
          <a:xfrm>
            <a:off x="4311396" y="4205288"/>
            <a:ext cx="3566160" cy="2148840"/>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39996" y="4433888"/>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05</a:t>
            </a:r>
          </a:p>
        </p:txBody>
      </p:sp>
      <p:sp>
        <p:nvSpPr>
          <p:cNvPr id="17" name="TextBox 16"/>
          <p:cNvSpPr txBox="1"/>
          <p:nvPr/>
        </p:nvSpPr>
        <p:spPr>
          <a:xfrm>
            <a:off x="4539996" y="5119688"/>
            <a:ext cx="3108960" cy="1143000"/>
          </a:xfrm>
          <a:prstGeom prst="rect">
            <a:avLst/>
          </a:prstGeom>
          <a:noFill/>
        </p:spPr>
        <p:txBody>
          <a:bodyPr wrap="square" lIns="0" tIns="0" rIns="0" bIns="0" anchor="t">
            <a:spAutoFit/>
          </a:bodyPr>
          <a:lstStyle/>
          <a:p>
            <a:pPr marL="0" indent="0" algn="l">
              <a:spcAft>
                <a:spcPts val="400"/>
              </a:spcAft>
              <a:buNone/>
            </a:pPr>
            <a:r>
              <a:rPr sz="1500" b="1" i="0">
                <a:solidFill>
                  <a:srgbClr val="14142B"/>
                </a:solidFill>
                <a:latin typeface="Arial"/>
              </a:rPr>
              <a:t>Typos and languages</a:t>
            </a:r>
          </a:p>
          <a:p>
            <a:pPr marL="0" indent="0" algn="l">
              <a:spcAft>
                <a:spcPts val="400"/>
              </a:spcAft>
              <a:buNone/>
            </a:pPr>
            <a:r>
              <a:rPr sz="1300" b="0" i="0">
                <a:solidFill>
                  <a:srgbClr val="63637E"/>
                </a:solidFill>
                <a:latin typeface="Calibri"/>
              </a:rPr>
              <a:t>One LLM rewrite shared by every routing stage; Hindi and other languages through translation</a:t>
            </a:r>
          </a:p>
        </p:txBody>
      </p:sp>
      <p:sp>
        <p:nvSpPr>
          <p:cNvPr id="18" name="Rounded Rectangle 17"/>
          <p:cNvSpPr/>
          <p:nvPr/>
        </p:nvSpPr>
        <p:spPr>
          <a:xfrm>
            <a:off x="8074152" y="4205288"/>
            <a:ext cx="3566160" cy="2148840"/>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302752" y="4433888"/>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06</a:t>
            </a:r>
          </a:p>
        </p:txBody>
      </p:sp>
      <p:sp>
        <p:nvSpPr>
          <p:cNvPr id="20" name="TextBox 19"/>
          <p:cNvSpPr txBox="1"/>
          <p:nvPr/>
        </p:nvSpPr>
        <p:spPr>
          <a:xfrm>
            <a:off x="8302752" y="5119688"/>
            <a:ext cx="3108960" cy="1143000"/>
          </a:xfrm>
          <a:prstGeom prst="rect">
            <a:avLst/>
          </a:prstGeom>
          <a:noFill/>
        </p:spPr>
        <p:txBody>
          <a:bodyPr wrap="square" lIns="0" tIns="0" rIns="0" bIns="0" anchor="t">
            <a:spAutoFit/>
          </a:bodyPr>
          <a:lstStyle/>
          <a:p>
            <a:pPr marL="0" indent="0" algn="l">
              <a:spcAft>
                <a:spcPts val="400"/>
              </a:spcAft>
              <a:buNone/>
            </a:pPr>
            <a:r>
              <a:rPr sz="1500" b="1" i="0">
                <a:solidFill>
                  <a:srgbClr val="14142B"/>
                </a:solidFill>
                <a:latin typeface="Arial"/>
              </a:rPr>
              <a:t>On-device integration</a:t>
            </a:r>
          </a:p>
          <a:p>
            <a:pPr marL="0" indent="0" algn="l">
              <a:spcAft>
                <a:spcPts val="400"/>
              </a:spcAft>
              <a:buNone/>
            </a:pPr>
            <a:r>
              <a:rPr sz="1300" b="0" i="0">
                <a:solidFill>
                  <a:srgbClr val="63637E"/>
                </a:solidFill>
                <a:latin typeface="Calibri"/>
              </a:rPr>
              <a:t>Samsung Members or Bixby, where bixby:// deeplinks open the screen directly</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Rounded Rectangle 2"/>
          <p:cNvSpPr/>
          <p:nvPr/>
        </p:nvSpPr>
        <p:spPr>
          <a:xfrm>
            <a:off x="548640" y="1827848"/>
            <a:ext cx="11091672" cy="804672"/>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77240" y="1983296"/>
            <a:ext cx="493776" cy="49377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a:t>
            </a:r>
          </a:p>
        </p:txBody>
      </p:sp>
      <p:sp>
        <p:nvSpPr>
          <p:cNvPr id="5" name="TextBox 4"/>
          <p:cNvSpPr txBox="1"/>
          <p:nvPr/>
        </p:nvSpPr>
        <p:spPr>
          <a:xfrm>
            <a:off x="1508760" y="1827848"/>
            <a:ext cx="3108960" cy="804672"/>
          </a:xfrm>
          <a:prstGeom prst="rect">
            <a:avLst/>
          </a:prstGeom>
          <a:noFill/>
        </p:spPr>
        <p:txBody>
          <a:bodyPr wrap="square" lIns="0" tIns="0" rIns="0" bIns="0" anchor="ctr">
            <a:spAutoFit/>
          </a:bodyPr>
          <a:lstStyle/>
          <a:p>
            <a:pPr marL="0" indent="0" algn="l">
              <a:spcAft>
                <a:spcPts val="600"/>
              </a:spcAft>
              <a:buNone/>
            </a:pPr>
            <a:r>
              <a:rPr sz="1600" b="1" i="0">
                <a:solidFill>
                  <a:srgbClr val="14142B"/>
                </a:solidFill>
                <a:latin typeface="Arial"/>
              </a:rPr>
              <a:t>Runs without a paid key</a:t>
            </a:r>
          </a:p>
        </p:txBody>
      </p:sp>
      <p:sp>
        <p:nvSpPr>
          <p:cNvPr id="6" name="TextBox 5"/>
          <p:cNvSpPr txBox="1"/>
          <p:nvPr/>
        </p:nvSpPr>
        <p:spPr>
          <a:xfrm>
            <a:off x="4663440" y="1827848"/>
            <a:ext cx="6702552" cy="804672"/>
          </a:xfrm>
          <a:prstGeom prst="rect">
            <a:avLst/>
          </a:prstGeom>
          <a:noFill/>
        </p:spPr>
        <p:txBody>
          <a:bodyPr wrap="square" lIns="0" tIns="0" rIns="0" bIns="0" anchor="ctr">
            <a:spAutoFit/>
          </a:bodyPr>
          <a:lstStyle/>
          <a:p>
            <a:pPr marL="0" indent="0" algn="l">
              <a:spcAft>
                <a:spcPts val="600"/>
              </a:spcAft>
              <a:buNone/>
            </a:pPr>
            <a:r>
              <a:rPr sz="1400" b="0" i="0">
                <a:solidFill>
                  <a:srgbClr val="63637E"/>
                </a:solidFill>
                <a:latin typeface="Calibri"/>
              </a:rPr>
              <a:t>Free NVIDIA key or a fully deterministic offline mode; no key ever stored in the repo</a:t>
            </a:r>
          </a:p>
        </p:txBody>
      </p:sp>
      <p:sp>
        <p:nvSpPr>
          <p:cNvPr id="7" name="Rounded Rectangle 6"/>
          <p:cNvSpPr/>
          <p:nvPr/>
        </p:nvSpPr>
        <p:spPr>
          <a:xfrm>
            <a:off x="548640" y="2760536"/>
            <a:ext cx="11091672" cy="804672"/>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77240" y="2915984"/>
            <a:ext cx="493776" cy="49377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a:t>
            </a:r>
          </a:p>
        </p:txBody>
      </p:sp>
      <p:sp>
        <p:nvSpPr>
          <p:cNvPr id="9" name="TextBox 8"/>
          <p:cNvSpPr txBox="1"/>
          <p:nvPr/>
        </p:nvSpPr>
        <p:spPr>
          <a:xfrm>
            <a:off x="1508760" y="2760536"/>
            <a:ext cx="3108960" cy="804672"/>
          </a:xfrm>
          <a:prstGeom prst="rect">
            <a:avLst/>
          </a:prstGeom>
          <a:noFill/>
        </p:spPr>
        <p:txBody>
          <a:bodyPr wrap="square" lIns="0" tIns="0" rIns="0" bIns="0" anchor="ctr">
            <a:spAutoFit/>
          </a:bodyPr>
          <a:lstStyle/>
          <a:p>
            <a:pPr marL="0" indent="0" algn="l">
              <a:spcAft>
                <a:spcPts val="600"/>
              </a:spcAft>
              <a:buNone/>
            </a:pPr>
            <a:r>
              <a:rPr sz="1600" b="1" i="0">
                <a:solidFill>
                  <a:srgbClr val="14142B"/>
                </a:solidFill>
                <a:latin typeface="Arial"/>
              </a:rPr>
              <a:t>One command</a:t>
            </a:r>
          </a:p>
        </p:txBody>
      </p:sp>
      <p:sp>
        <p:nvSpPr>
          <p:cNvPr id="10" name="TextBox 9"/>
          <p:cNvSpPr txBox="1"/>
          <p:nvPr/>
        </p:nvSpPr>
        <p:spPr>
          <a:xfrm>
            <a:off x="4663440" y="2760536"/>
            <a:ext cx="6702552" cy="804672"/>
          </a:xfrm>
          <a:prstGeom prst="rect">
            <a:avLst/>
          </a:prstGeom>
          <a:noFill/>
        </p:spPr>
        <p:txBody>
          <a:bodyPr wrap="square" lIns="0" tIns="0" rIns="0" bIns="0" anchor="ctr">
            <a:spAutoFit/>
          </a:bodyPr>
          <a:lstStyle/>
          <a:p>
            <a:pPr marL="0" indent="0" algn="l">
              <a:spcAft>
                <a:spcPts val="600"/>
              </a:spcAft>
              <a:buNone/>
            </a:pPr>
            <a:r>
              <a:rPr sz="1400" b="0" i="0">
                <a:solidFill>
                  <a:srgbClr val="63637E"/>
                </a:solidFill>
                <a:latin typeface="Calibri"/>
              </a:rPr>
              <a:t>start.sh / start.ps1 ask for a key, then Docker brings up API and UI</a:t>
            </a:r>
          </a:p>
        </p:txBody>
      </p:sp>
      <p:sp>
        <p:nvSpPr>
          <p:cNvPr id="11" name="Rounded Rectangle 10"/>
          <p:cNvSpPr/>
          <p:nvPr/>
        </p:nvSpPr>
        <p:spPr>
          <a:xfrm>
            <a:off x="548640" y="3693224"/>
            <a:ext cx="11091672" cy="804672"/>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77240" y="3848672"/>
            <a:ext cx="493776" cy="49377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a:t>
            </a:r>
          </a:p>
        </p:txBody>
      </p:sp>
      <p:sp>
        <p:nvSpPr>
          <p:cNvPr id="13" name="TextBox 12"/>
          <p:cNvSpPr txBox="1"/>
          <p:nvPr/>
        </p:nvSpPr>
        <p:spPr>
          <a:xfrm>
            <a:off x="1508760" y="3693224"/>
            <a:ext cx="3108960" cy="804672"/>
          </a:xfrm>
          <a:prstGeom prst="rect">
            <a:avLst/>
          </a:prstGeom>
          <a:noFill/>
        </p:spPr>
        <p:txBody>
          <a:bodyPr wrap="square" lIns="0" tIns="0" rIns="0" bIns="0" anchor="ctr">
            <a:spAutoFit/>
          </a:bodyPr>
          <a:lstStyle/>
          <a:p>
            <a:pPr marL="0" indent="0" algn="l">
              <a:spcAft>
                <a:spcPts val="600"/>
              </a:spcAft>
              <a:buNone/>
            </a:pPr>
            <a:r>
              <a:rPr sz="1600" b="1" i="0">
                <a:solidFill>
                  <a:srgbClr val="14142B"/>
                </a:solidFill>
                <a:latin typeface="Arial"/>
              </a:rPr>
              <a:t>Judge-friendly UI</a:t>
            </a:r>
          </a:p>
        </p:txBody>
      </p:sp>
      <p:sp>
        <p:nvSpPr>
          <p:cNvPr id="14" name="TextBox 13"/>
          <p:cNvSpPr txBox="1"/>
          <p:nvPr/>
        </p:nvSpPr>
        <p:spPr>
          <a:xfrm>
            <a:off x="4663440" y="3693224"/>
            <a:ext cx="6702552" cy="804672"/>
          </a:xfrm>
          <a:prstGeom prst="rect">
            <a:avLst/>
          </a:prstGeom>
          <a:noFill/>
        </p:spPr>
        <p:txBody>
          <a:bodyPr wrap="square" lIns="0" tIns="0" rIns="0" bIns="0" anchor="ctr">
            <a:spAutoFit/>
          </a:bodyPr>
          <a:lstStyle/>
          <a:p>
            <a:pPr marL="0" indent="0" algn="l">
              <a:spcAft>
                <a:spcPts val="600"/>
              </a:spcAft>
              <a:buNone/>
            </a:pPr>
            <a:r>
              <a:rPr sz="1400" b="0" i="0">
                <a:solidFill>
                  <a:srgbClr val="63637E"/>
                </a:solidFill>
                <a:latin typeface="Calibri"/>
              </a:rPr>
              <a:t>Plan, deeplinks, trace, contract checks and raw JSON on one screen; shareable ?q= links</a:t>
            </a:r>
          </a:p>
        </p:txBody>
      </p:sp>
      <p:sp>
        <p:nvSpPr>
          <p:cNvPr id="15" name="Rounded Rectangle 14"/>
          <p:cNvSpPr/>
          <p:nvPr/>
        </p:nvSpPr>
        <p:spPr>
          <a:xfrm>
            <a:off x="548640" y="4625912"/>
            <a:ext cx="11091672" cy="804672"/>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77240" y="4781360"/>
            <a:ext cx="493776" cy="49377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a:t>
            </a:r>
          </a:p>
        </p:txBody>
      </p:sp>
      <p:sp>
        <p:nvSpPr>
          <p:cNvPr id="17" name="TextBox 16"/>
          <p:cNvSpPr txBox="1"/>
          <p:nvPr/>
        </p:nvSpPr>
        <p:spPr>
          <a:xfrm>
            <a:off x="1508760" y="4625912"/>
            <a:ext cx="3108960" cy="804672"/>
          </a:xfrm>
          <a:prstGeom prst="rect">
            <a:avLst/>
          </a:prstGeom>
          <a:noFill/>
        </p:spPr>
        <p:txBody>
          <a:bodyPr wrap="square" lIns="0" tIns="0" rIns="0" bIns="0" anchor="ctr">
            <a:spAutoFit/>
          </a:bodyPr>
          <a:lstStyle/>
          <a:p>
            <a:pPr marL="0" indent="0" algn="l">
              <a:spcAft>
                <a:spcPts val="600"/>
              </a:spcAft>
              <a:buNone/>
            </a:pPr>
            <a:r>
              <a:rPr sz="1600" b="1" i="0">
                <a:solidFill>
                  <a:srgbClr val="14142B"/>
                </a:solidFill>
                <a:latin typeface="Arial"/>
              </a:rPr>
              <a:t>Honest evaluation</a:t>
            </a:r>
          </a:p>
        </p:txBody>
      </p:sp>
      <p:sp>
        <p:nvSpPr>
          <p:cNvPr id="18" name="TextBox 17"/>
          <p:cNvSpPr txBox="1"/>
          <p:nvPr/>
        </p:nvSpPr>
        <p:spPr>
          <a:xfrm>
            <a:off x="4663440" y="4625912"/>
            <a:ext cx="6702552" cy="804672"/>
          </a:xfrm>
          <a:prstGeom prst="rect">
            <a:avLst/>
          </a:prstGeom>
          <a:noFill/>
        </p:spPr>
        <p:txBody>
          <a:bodyPr wrap="square" lIns="0" tIns="0" rIns="0" bIns="0" anchor="ctr">
            <a:spAutoFit/>
          </a:bodyPr>
          <a:lstStyle/>
          <a:p>
            <a:pPr marL="0" indent="0" algn="l">
              <a:spcAft>
                <a:spcPts val="600"/>
              </a:spcAft>
              <a:buNone/>
            </a:pPr>
            <a:r>
              <a:rPr sz="1400" b="0" i="0">
                <a:solidFill>
                  <a:srgbClr val="63637E"/>
                </a:solidFill>
                <a:latin typeface="Calibri"/>
              </a:rPr>
              <a:t>Held-out splits, hard negatives, ablations, load, adversarial and typo tests; misses reported, not hidden</a:t>
            </a:r>
          </a:p>
        </p:txBody>
      </p:sp>
      <p:sp>
        <p:nvSpPr>
          <p:cNvPr id="19" name="Rounded Rectangle 18"/>
          <p:cNvSpPr/>
          <p:nvPr/>
        </p:nvSpPr>
        <p:spPr>
          <a:xfrm>
            <a:off x="548640" y="5558600"/>
            <a:ext cx="11091672" cy="804672"/>
          </a:xfrm>
          <a:prstGeom prst="roundRect">
            <a:avLst>
              <a:gd name="adj" fmla="val 8000"/>
            </a:avLst>
          </a:prstGeom>
          <a:solidFill>
            <a:srgbClr val="F4F1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77240" y="5714048"/>
            <a:ext cx="493776" cy="493776"/>
          </a:xfrm>
          <a:prstGeom prst="ellipse">
            <a:avLst/>
          </a:prstGeom>
          <a:solidFill>
            <a:srgbClr val="0F9D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a:t>
            </a:r>
          </a:p>
        </p:txBody>
      </p:sp>
      <p:sp>
        <p:nvSpPr>
          <p:cNvPr id="21" name="TextBox 20"/>
          <p:cNvSpPr txBox="1"/>
          <p:nvPr/>
        </p:nvSpPr>
        <p:spPr>
          <a:xfrm>
            <a:off x="1508760" y="5558600"/>
            <a:ext cx="3108960" cy="804672"/>
          </a:xfrm>
          <a:prstGeom prst="rect">
            <a:avLst/>
          </a:prstGeom>
          <a:noFill/>
        </p:spPr>
        <p:txBody>
          <a:bodyPr wrap="square" lIns="0" tIns="0" rIns="0" bIns="0" anchor="ctr">
            <a:spAutoFit/>
          </a:bodyPr>
          <a:lstStyle/>
          <a:p>
            <a:pPr marL="0" indent="0" algn="l">
              <a:spcAft>
                <a:spcPts val="600"/>
              </a:spcAft>
              <a:buNone/>
            </a:pPr>
            <a:r>
              <a:rPr sz="1600" b="1" i="0">
                <a:solidFill>
                  <a:srgbClr val="14142B"/>
                </a:solidFill>
                <a:latin typeface="Arial"/>
              </a:rPr>
              <a:t>Engineering hygiene</a:t>
            </a:r>
          </a:p>
        </p:txBody>
      </p:sp>
      <p:sp>
        <p:nvSpPr>
          <p:cNvPr id="22" name="TextBox 21"/>
          <p:cNvSpPr txBox="1"/>
          <p:nvPr/>
        </p:nvSpPr>
        <p:spPr>
          <a:xfrm>
            <a:off x="4663440" y="5558600"/>
            <a:ext cx="6702552" cy="804672"/>
          </a:xfrm>
          <a:prstGeom prst="rect">
            <a:avLst/>
          </a:prstGeom>
          <a:noFill/>
        </p:spPr>
        <p:txBody>
          <a:bodyPr wrap="square" lIns="0" tIns="0" rIns="0" bIns="0" anchor="ctr">
            <a:spAutoFit/>
          </a:bodyPr>
          <a:lstStyle/>
          <a:p>
            <a:pPr marL="0" indent="0" algn="l">
              <a:spcAft>
                <a:spcPts val="600"/>
              </a:spcAft>
              <a:buNone/>
            </a:pPr>
            <a:r>
              <a:rPr sz="1400" b="0" i="0">
                <a:solidFill>
                  <a:srgbClr val="63637E"/>
                </a:solidFill>
                <a:latin typeface="Calibri"/>
              </a:rPr>
              <a:t>433 automated tests, a deeplink audit and a feature-level AI disclosure</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lang="en-US" sz="2400" dirty="0">
                <a:solidFill>
                  <a:srgbClr val="63637E"/>
                </a:solidFill>
                <a:latin typeface="Calibri" pitchFamily="34" charset="0"/>
                <a:ea typeface="Calibri" pitchFamily="34" charset="-122"/>
                <a:cs typeface="Calibri" pitchFamily="34" charset="-120"/>
              </a:rPr>
              <a:t>Working prototype code — public or shared GitHub repo: Y</a:t>
            </a:r>
            <a:endParaRPr lang="en-US" sz="2800" dirty="0"/>
          </a:p>
          <a:p>
            <a:pPr marL="177800" indent="-177800">
              <a:spcAft>
                <a:spcPts val="500"/>
              </a:spcAft>
              <a:buSzPct val="100000"/>
              <a:buChar char="•"/>
            </a:pPr>
            <a:r>
              <a:rPr lang="en-US" sz="2400" dirty="0">
                <a:solidFill>
                  <a:srgbClr val="63637E"/>
                </a:solidFill>
                <a:latin typeface="Calibri" pitchFamily="34" charset="0"/>
                <a:ea typeface="Calibri" pitchFamily="34" charset="-122"/>
                <a:cs typeface="Calibri" pitchFamily="34" charset="-120"/>
              </a:rPr>
              <a:t>README with reproducible setup instructions: Y (README.md, start.sh / start.ps1, Docker)</a:t>
            </a:r>
            <a:endParaRPr lang="en-US" sz="2800" dirty="0"/>
          </a:p>
          <a:p>
            <a:pPr marL="177800" indent="-177800">
              <a:spcAft>
                <a:spcPts val="500"/>
              </a:spcAft>
              <a:buSzPct val="100000"/>
              <a:buChar char="•"/>
            </a:pPr>
            <a:r>
              <a:rPr lang="en-US" sz="2400" dirty="0">
                <a:solidFill>
                  <a:srgbClr val="63637E"/>
                </a:solidFill>
                <a:latin typeface="Calibri" pitchFamily="34" charset="0"/>
                <a:ea typeface="Calibri" pitchFamily="34" charset="-122"/>
                <a:cs typeface="Calibri" pitchFamily="34" charset="-120"/>
              </a:rPr>
              <a:t>Demo video, max 5 minutes (YouTube or Drive link): [add link]</a:t>
            </a:r>
            <a:endParaRPr lang="en-US" sz="2800" dirty="0"/>
          </a:p>
          <a:p>
            <a:pPr marL="177800" indent="-177800">
              <a:spcAft>
                <a:spcPts val="500"/>
              </a:spcAft>
              <a:buSzPct val="100000"/>
              <a:buChar char="•"/>
            </a:pPr>
            <a:r>
              <a:rPr lang="en-US" sz="2400" dirty="0">
                <a:solidFill>
                  <a:srgbClr val="63637E"/>
                </a:solidFill>
                <a:latin typeface="Calibri" pitchFamily="34" charset="0"/>
                <a:ea typeface="Calibri" pitchFamily="34" charset="-122"/>
                <a:cs typeface="Calibri" pitchFamily="34" charset="-120"/>
              </a:rPr>
              <a:t>Presentation file (PPT or PDF): Y</a:t>
            </a:r>
            <a:endParaRPr lang="en-US" sz="2800"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68</TotalTime>
  <Words>1719</Words>
  <Application>Microsoft Office PowerPoint</Application>
  <PresentationFormat>Widescreen</PresentationFormat>
  <Paragraphs>206</Paragraphs>
  <Slides>12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Harshit Choudhary</cp:lastModifiedBy>
  <cp:revision>9</cp:revision>
  <dcterms:created xsi:type="dcterms:W3CDTF">2026-09-07T12:01:01Z</dcterms:created>
  <dcterms:modified xsi:type="dcterms:W3CDTF">2026-09-30T07:18:50Z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